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88825"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300"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4" name="Google Shape;124;p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1" name="Google Shape;171;p6: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dc7d8d236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g3dc7d8d236d_0_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7" name="Google Shape;217;p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p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3dc7d8d236d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g3dc7d8d236d_0_11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dc7d8d236d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0" name="Google Shape;320;g3dc7d8d236d_0_124: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dc7d8d236d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9" name="Google Shape;329;g3dc7d8d236d_0_13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dc7d8d236d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g3dc7d8d236d_0_14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3dc7d8d236d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7" name="Google Shape;347;g3dc7d8d236d_0_15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56" name="Google Shape;356;p11: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3dc7d8d236d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g3dc7d8d236d_0_16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3dc7d8d236d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6" name="Google Shape;406;g3dc7d8d236d_0_169: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dc7d8d236d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5" name="Google Shape;415;g3dc7d8d236d_0_178: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dc7d8d236d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4" name="Google Shape;424;g3dc7d8d236d_0_227: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3" name="Google Shape;433;p13: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dc7d8d236d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7" name="Google Shape;457;g3dc7d8d236d_0_240: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9" name="Google Shape;469;p15: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0" y="0"/>
            <a:ext cx="12188952" cy="685800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 name="Google Shape;85;p13"/>
          <p:cNvSpPr/>
          <p:nvPr/>
        </p:nvSpPr>
        <p:spPr>
          <a:xfrm>
            <a:off x="0" y="3444241"/>
            <a:ext cx="12188952" cy="73152"/>
          </a:xfrm>
          <a:prstGeom prst="rect">
            <a:avLst/>
          </a:prstGeom>
          <a:solidFill>
            <a:srgbClr val="008B8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3"/>
          <p:cNvSpPr txBox="1"/>
          <p:nvPr/>
        </p:nvSpPr>
        <p:spPr>
          <a:xfrm>
            <a:off x="457200" y="1483002"/>
            <a:ext cx="11247000" cy="13233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dirty="0">
                <a:solidFill>
                  <a:srgbClr val="FFFFFF"/>
                </a:solidFill>
                <a:latin typeface="Calibri"/>
                <a:ea typeface="Calibri"/>
                <a:cs typeface="Calibri"/>
                <a:sym typeface="Calibri"/>
              </a:rPr>
              <a:t>Automatic Left Ventricle Segmentation</a:t>
            </a:r>
          </a:p>
          <a:p>
            <a:pPr marL="0" marR="0" lvl="0" indent="0" algn="ctr" rtl="0">
              <a:spcBef>
                <a:spcPts val="0"/>
              </a:spcBef>
              <a:spcAft>
                <a:spcPts val="0"/>
              </a:spcAft>
              <a:buNone/>
            </a:pPr>
            <a:r>
              <a:rPr lang="en-US" sz="4000" b="1" dirty="0">
                <a:solidFill>
                  <a:srgbClr val="FFFFFF"/>
                </a:solidFill>
                <a:latin typeface="Calibri"/>
                <a:ea typeface="Calibri"/>
                <a:cs typeface="Calibri"/>
                <a:sym typeface="Calibri"/>
              </a:rPr>
              <a:t>In Myocardial Perfusion SPECT Images</a:t>
            </a:r>
            <a:endParaRPr sz="1800" dirty="0"/>
          </a:p>
        </p:txBody>
      </p:sp>
      <p:sp>
        <p:nvSpPr>
          <p:cNvPr id="87" name="Google Shape;87;p13"/>
          <p:cNvSpPr txBox="1"/>
          <p:nvPr/>
        </p:nvSpPr>
        <p:spPr>
          <a:xfrm>
            <a:off x="457200" y="2761207"/>
            <a:ext cx="11247120" cy="6400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600" b="0" i="0" u="none" strike="noStrike" cap="none" dirty="0">
                <a:solidFill>
                  <a:srgbClr val="008B8B"/>
                </a:solidFill>
                <a:latin typeface="Calibri"/>
                <a:ea typeface="Calibri"/>
                <a:cs typeface="Calibri"/>
                <a:sym typeface="Calibri"/>
              </a:rPr>
              <a:t>Using Deep Learning Models</a:t>
            </a:r>
            <a:endParaRPr dirty="0"/>
          </a:p>
        </p:txBody>
      </p:sp>
      <p:sp>
        <p:nvSpPr>
          <p:cNvPr id="88" name="Google Shape;88;p13"/>
          <p:cNvSpPr txBox="1"/>
          <p:nvPr/>
        </p:nvSpPr>
        <p:spPr>
          <a:xfrm>
            <a:off x="457200" y="5822824"/>
            <a:ext cx="11247120" cy="54864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0" i="0" u="none" strike="noStrike" cap="none" dirty="0">
                <a:solidFill>
                  <a:srgbClr val="F2F2F2"/>
                </a:solidFill>
                <a:latin typeface="Calibri"/>
                <a:ea typeface="Calibri"/>
                <a:cs typeface="Calibri"/>
                <a:sym typeface="Calibri"/>
              </a:rPr>
              <a:t>Comparative Evaluation of U-Net · Attention U-Net · Normal CNN · </a:t>
            </a:r>
            <a:r>
              <a:rPr lang="en-US" sz="1600" b="0" i="0" u="none" strike="noStrike" cap="none" dirty="0" err="1">
                <a:solidFill>
                  <a:srgbClr val="F2F2F2"/>
                </a:solidFill>
                <a:latin typeface="Calibri"/>
                <a:ea typeface="Calibri"/>
                <a:cs typeface="Calibri"/>
                <a:sym typeface="Calibri"/>
              </a:rPr>
              <a:t>ViTSeg</a:t>
            </a:r>
            <a:endParaRPr dirty="0"/>
          </a:p>
        </p:txBody>
      </p:sp>
      <p:sp>
        <p:nvSpPr>
          <p:cNvPr id="89" name="Google Shape;89;p13"/>
          <p:cNvSpPr txBox="1"/>
          <p:nvPr/>
        </p:nvSpPr>
        <p:spPr>
          <a:xfrm>
            <a:off x="457200" y="6119568"/>
            <a:ext cx="11247120" cy="457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0" i="1" u="none" strike="noStrike" cap="none">
                <a:solidFill>
                  <a:srgbClr val="F2F2F2"/>
                </a:solidFill>
                <a:latin typeface="Calibri"/>
                <a:ea typeface="Calibri"/>
                <a:cs typeface="Calibri"/>
                <a:sym typeface="Calibri"/>
              </a:rPr>
              <a:t>Deep Learning for Medical Imaging  |  Cardiac SPECT Segmentation</a:t>
            </a:r>
            <a:endParaRPr/>
          </a:p>
        </p:txBody>
      </p:sp>
      <p:sp>
        <p:nvSpPr>
          <p:cNvPr id="90" name="Google Shape;90;p13"/>
          <p:cNvSpPr/>
          <p:nvPr/>
        </p:nvSpPr>
        <p:spPr>
          <a:xfrm>
            <a:off x="0" y="6492240"/>
            <a:ext cx="12188952" cy="365760"/>
          </a:xfrm>
          <a:prstGeom prst="rect">
            <a:avLst/>
          </a:prstGeom>
          <a:solidFill>
            <a:srgbClr val="008B8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 name="Google Shape;91;p13"/>
          <p:cNvSpPr txBox="1"/>
          <p:nvPr/>
        </p:nvSpPr>
        <p:spPr>
          <a:xfrm>
            <a:off x="182880" y="6492240"/>
            <a:ext cx="117957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a:p>
        </p:txBody>
      </p:sp>
      <p:sp>
        <p:nvSpPr>
          <p:cNvPr id="2" name="TextBox 1">
            <a:extLst>
              <a:ext uri="{FF2B5EF4-FFF2-40B4-BE49-F238E27FC236}">
                <a16:creationId xmlns:a16="http://schemas.microsoft.com/office/drawing/2014/main" id="{FFC94ADD-C732-483C-9053-567EED35D067}"/>
              </a:ext>
            </a:extLst>
          </p:cNvPr>
          <p:cNvSpPr txBox="1"/>
          <p:nvPr/>
        </p:nvSpPr>
        <p:spPr>
          <a:xfrm>
            <a:off x="3847896" y="3787970"/>
            <a:ext cx="4770407" cy="1154675"/>
          </a:xfrm>
          <a:prstGeom prst="rect">
            <a:avLst/>
          </a:prstGeom>
          <a:noFill/>
        </p:spPr>
        <p:txBody>
          <a:bodyPr wrap="square" rtlCol="0">
            <a:spAutoFit/>
          </a:bodyPr>
          <a:lstStyle/>
          <a:p>
            <a:pPr algn="ctr">
              <a:lnSpc>
                <a:spcPct val="150000"/>
              </a:lnSpc>
            </a:pPr>
            <a:r>
              <a:rPr lang="en-US" sz="1600" b="1" dirty="0">
                <a:solidFill>
                  <a:schemeClr val="bg1"/>
                </a:solidFill>
              </a:rPr>
              <a:t>Name: Md Jahid Hossain</a:t>
            </a:r>
          </a:p>
          <a:p>
            <a:pPr algn="ctr">
              <a:lnSpc>
                <a:spcPct val="150000"/>
              </a:lnSpc>
            </a:pPr>
            <a:r>
              <a:rPr lang="en-US" sz="1600" b="1" dirty="0">
                <a:solidFill>
                  <a:schemeClr val="bg1"/>
                </a:solidFill>
              </a:rPr>
              <a:t>MSc Data Science</a:t>
            </a:r>
          </a:p>
          <a:p>
            <a:pPr algn="ctr">
              <a:lnSpc>
                <a:spcPct val="150000"/>
              </a:lnSpc>
            </a:pPr>
            <a:r>
              <a:rPr lang="en-US" sz="1600" b="1" dirty="0">
                <a:solidFill>
                  <a:schemeClr val="bg1"/>
                </a:solidFill>
              </a:rPr>
              <a:t>University Of Hertfordshire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p:nvPr/>
        </p:nvSpPr>
        <p:spPr>
          <a:xfrm>
            <a:off x="0" y="0"/>
            <a:ext cx="12188952" cy="100584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4"/>
          <p:cNvSpPr txBox="1"/>
          <p:nvPr/>
        </p:nvSpPr>
        <p:spPr>
          <a:xfrm>
            <a:off x="274320" y="91440"/>
            <a:ext cx="11430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Calibri"/>
                <a:ea typeface="Calibri"/>
                <a:cs typeface="Calibri"/>
                <a:sym typeface="Calibri"/>
              </a:rPr>
              <a:t>Introduction</a:t>
            </a:r>
            <a:endParaRPr/>
          </a:p>
        </p:txBody>
      </p:sp>
      <p:sp>
        <p:nvSpPr>
          <p:cNvPr id="98" name="Google Shape;98;p14"/>
          <p:cNvSpPr/>
          <p:nvPr/>
        </p:nvSpPr>
        <p:spPr>
          <a:xfrm>
            <a:off x="0" y="1005840"/>
            <a:ext cx="12188952" cy="5852160"/>
          </a:xfrm>
          <a:prstGeom prst="rect">
            <a:avLst/>
          </a:prstGeom>
          <a:solidFill>
            <a:srgbClr val="F2F2F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4"/>
          <p:cNvSpPr/>
          <p:nvPr/>
        </p:nvSpPr>
        <p:spPr>
          <a:xfrm>
            <a:off x="0" y="6492240"/>
            <a:ext cx="12188952" cy="3657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 name="Google Shape;100;p14"/>
          <p:cNvSpPr txBox="1"/>
          <p:nvPr/>
        </p:nvSpPr>
        <p:spPr>
          <a:xfrm>
            <a:off x="182880" y="6492240"/>
            <a:ext cx="117957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a:p>
        </p:txBody>
      </p:sp>
      <p:sp>
        <p:nvSpPr>
          <p:cNvPr id="101" name="Google Shape;101;p14"/>
          <p:cNvSpPr/>
          <p:nvPr/>
        </p:nvSpPr>
        <p:spPr>
          <a:xfrm>
            <a:off x="274320" y="1097280"/>
            <a:ext cx="5486400" cy="530352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p:cNvSpPr txBox="1"/>
          <p:nvPr/>
        </p:nvSpPr>
        <p:spPr>
          <a:xfrm>
            <a:off x="457200" y="1188720"/>
            <a:ext cx="521208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1A234E"/>
                </a:solidFill>
                <a:latin typeface="Calibri"/>
                <a:ea typeface="Calibri"/>
                <a:cs typeface="Calibri"/>
                <a:sym typeface="Calibri"/>
              </a:rPr>
              <a:t>Clinical Context</a:t>
            </a:r>
            <a:endParaRPr/>
          </a:p>
        </p:txBody>
      </p:sp>
      <p:sp>
        <p:nvSpPr>
          <p:cNvPr id="107" name="Google Shape;107;p14"/>
          <p:cNvSpPr txBox="1"/>
          <p:nvPr/>
        </p:nvSpPr>
        <p:spPr>
          <a:xfrm>
            <a:off x="457200" y="3081527"/>
            <a:ext cx="5212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108" name="Google Shape;108;p14"/>
          <p:cNvSpPr txBox="1"/>
          <p:nvPr/>
        </p:nvSpPr>
        <p:spPr>
          <a:xfrm>
            <a:off x="457200" y="3776472"/>
            <a:ext cx="5212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109" name="Google Shape;109;p14"/>
          <p:cNvSpPr txBox="1"/>
          <p:nvPr/>
        </p:nvSpPr>
        <p:spPr>
          <a:xfrm>
            <a:off x="457200" y="4471416"/>
            <a:ext cx="5212080" cy="3474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4"/>
          <p:cNvSpPr txBox="1"/>
          <p:nvPr/>
        </p:nvSpPr>
        <p:spPr>
          <a:xfrm>
            <a:off x="457200" y="5513831"/>
            <a:ext cx="5212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111" name="Google Shape;111;p14"/>
          <p:cNvSpPr/>
          <p:nvPr/>
        </p:nvSpPr>
        <p:spPr>
          <a:xfrm>
            <a:off x="6217920" y="1097280"/>
            <a:ext cx="5486400" cy="530352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 name="Google Shape;112;p14"/>
          <p:cNvSpPr txBox="1"/>
          <p:nvPr/>
        </p:nvSpPr>
        <p:spPr>
          <a:xfrm>
            <a:off x="6400800" y="1188720"/>
            <a:ext cx="521208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1A234E"/>
                </a:solidFill>
                <a:latin typeface="Calibri"/>
                <a:ea typeface="Calibri"/>
                <a:cs typeface="Calibri"/>
                <a:sym typeface="Calibri"/>
              </a:rPr>
              <a:t>Research Objective</a:t>
            </a:r>
            <a:endParaRPr/>
          </a:p>
        </p:txBody>
      </p:sp>
      <p:sp>
        <p:nvSpPr>
          <p:cNvPr id="116" name="Google Shape;116;p14"/>
          <p:cNvSpPr txBox="1"/>
          <p:nvPr/>
        </p:nvSpPr>
        <p:spPr>
          <a:xfrm>
            <a:off x="6400800" y="1640714"/>
            <a:ext cx="5212080" cy="1523454"/>
          </a:xfrm>
          <a:prstGeom prst="rect">
            <a:avLst/>
          </a:prstGeom>
          <a:noFill/>
          <a:ln>
            <a:noFill/>
          </a:ln>
        </p:spPr>
        <p:txBody>
          <a:bodyPr spcFirstLastPara="1" wrap="square" lIns="91425" tIns="45700" rIns="91425" bIns="45700" anchor="t" anchorCtr="0">
            <a:spAutoFit/>
          </a:bodyPr>
          <a:lstStyle/>
          <a:p>
            <a:pPr>
              <a:lnSpc>
                <a:spcPct val="150000"/>
              </a:lnSpc>
            </a:pPr>
            <a:r>
              <a:rPr lang="en-US" sz="13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sym typeface="Calibri"/>
              </a:rPr>
              <a:t>Can lightweight, scratch-trained models achieve clinically relevant segmentation on 70×70 cardiac SPECT slices?</a:t>
            </a:r>
            <a:endParaRPr lang="en-US" sz="13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endParaRPr lang="en-US" sz="1800" dirty="0">
              <a:solidFill>
                <a:schemeClr val="tx1">
                  <a:lumMod val="65000"/>
                  <a:lumOff val="35000"/>
                </a:schemeClr>
              </a:solidFill>
            </a:endParaRPr>
          </a:p>
          <a:p>
            <a:endParaRPr lang="en-US" sz="1800" dirty="0">
              <a:solidFill>
                <a:schemeClr val="tx1">
                  <a:lumMod val="65000"/>
                  <a:lumOff val="35000"/>
                </a:schemeClr>
              </a:solidFill>
            </a:endParaRPr>
          </a:p>
          <a:p>
            <a:pPr marL="0" marR="0" lvl="0" indent="0" algn="l"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17" name="Google Shape;117;p14"/>
          <p:cNvSpPr txBox="1"/>
          <p:nvPr/>
        </p:nvSpPr>
        <p:spPr>
          <a:xfrm>
            <a:off x="6400800" y="3317201"/>
            <a:ext cx="5212080" cy="3474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 name="Google Shape;118;p14"/>
          <p:cNvSpPr txBox="1"/>
          <p:nvPr/>
        </p:nvSpPr>
        <p:spPr>
          <a:xfrm>
            <a:off x="6400800" y="3776472"/>
            <a:ext cx="5212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119" name="Google Shape;119;p14"/>
          <p:cNvSpPr txBox="1"/>
          <p:nvPr/>
        </p:nvSpPr>
        <p:spPr>
          <a:xfrm>
            <a:off x="6400800" y="4471416"/>
            <a:ext cx="5212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120" name="Google Shape;120;p14"/>
          <p:cNvSpPr txBox="1"/>
          <p:nvPr/>
        </p:nvSpPr>
        <p:spPr>
          <a:xfrm>
            <a:off x="6400800" y="5513831"/>
            <a:ext cx="5212080" cy="3474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4"/>
          <p:cNvSpPr txBox="1"/>
          <p:nvPr/>
        </p:nvSpPr>
        <p:spPr>
          <a:xfrm>
            <a:off x="6400800" y="5861303"/>
            <a:ext cx="5212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2" name="TextBox 1">
            <a:extLst>
              <a:ext uri="{FF2B5EF4-FFF2-40B4-BE49-F238E27FC236}">
                <a16:creationId xmlns:a16="http://schemas.microsoft.com/office/drawing/2014/main" id="{CCEC076D-79DB-468F-8F55-808A0BA82DA3}"/>
              </a:ext>
            </a:extLst>
          </p:cNvPr>
          <p:cNvSpPr txBox="1"/>
          <p:nvPr/>
        </p:nvSpPr>
        <p:spPr>
          <a:xfrm>
            <a:off x="443277" y="1644783"/>
            <a:ext cx="4994694" cy="4793620"/>
          </a:xfrm>
          <a:prstGeom prst="rect">
            <a:avLst/>
          </a:prstGeom>
          <a:noFill/>
        </p:spPr>
        <p:txBody>
          <a:bodyPr wrap="square" rtlCol="0">
            <a:spAutoFit/>
          </a:bodyPr>
          <a:lstStyle/>
          <a:p>
            <a:pPr>
              <a:lnSpc>
                <a:spcPct val="150000"/>
              </a:lnSpc>
            </a:pPr>
            <a:r>
              <a:rPr lang="en-US" sz="13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Myocardial Perfusion refers to the flow of blood through the heart muscle.</a:t>
            </a:r>
          </a:p>
          <a:p>
            <a:pPr>
              <a:lnSpc>
                <a:spcPct val="150000"/>
              </a:lnSpc>
            </a:pPr>
            <a:endParaRPr lang="en-US" sz="13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3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Out of the four chambers of our heart, left ventricle is the strongest and the most important one. It distributes oxygenated blood throughout the body and sends blood into the main artery.</a:t>
            </a:r>
          </a:p>
          <a:p>
            <a:pPr>
              <a:lnSpc>
                <a:spcPct val="150000"/>
              </a:lnSpc>
            </a:pPr>
            <a:endParaRPr lang="en-US" sz="13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3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Left Ventricle (LV) segmentation is critical for quantifying myocardial perfusion deficits, measuring heart functions and detecting disease such as Cardiomyopathy or heart failures. </a:t>
            </a:r>
          </a:p>
          <a:p>
            <a:pPr>
              <a:lnSpc>
                <a:spcPct val="150000"/>
              </a:lnSpc>
            </a:pPr>
            <a:endParaRPr lang="en-US" sz="13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pPr>
              <a:lnSpc>
                <a:spcPct val="150000"/>
              </a:lnSpc>
            </a:pPr>
            <a:r>
              <a:rPr lang="en-US" sz="13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While manual delineation is time-consuming and observer-dependent, automated deep learning segmentation can enable reproducible, fast and scalable results</a:t>
            </a:r>
            <a:r>
              <a:rPr lang="en-US" sz="1300" dirty="0">
                <a:solidFill>
                  <a:srgbClr val="444444"/>
                </a:solidFill>
              </a:rPr>
              <a:t>.</a:t>
            </a:r>
          </a:p>
          <a:p>
            <a:pPr>
              <a:lnSpc>
                <a:spcPct val="150000"/>
              </a:lnSpc>
            </a:pPr>
            <a:endParaRPr lang="en-US" sz="13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endParaRPr>
          </a:p>
          <a:p>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5"/>
          <p:cNvSpPr/>
          <p:nvPr/>
        </p:nvSpPr>
        <p:spPr>
          <a:xfrm>
            <a:off x="0" y="0"/>
            <a:ext cx="12188952" cy="100584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7" name="Google Shape;127;p15"/>
          <p:cNvSpPr txBox="1"/>
          <p:nvPr/>
        </p:nvSpPr>
        <p:spPr>
          <a:xfrm>
            <a:off x="274320" y="91440"/>
            <a:ext cx="11430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Calibri"/>
                <a:ea typeface="Calibri"/>
                <a:cs typeface="Calibri"/>
                <a:sym typeface="Calibri"/>
              </a:rPr>
              <a:t>Previous Work</a:t>
            </a:r>
            <a:endParaRPr/>
          </a:p>
        </p:txBody>
      </p:sp>
      <p:sp>
        <p:nvSpPr>
          <p:cNvPr id="128" name="Google Shape;128;p15"/>
          <p:cNvSpPr/>
          <p:nvPr/>
        </p:nvSpPr>
        <p:spPr>
          <a:xfrm>
            <a:off x="0" y="1005840"/>
            <a:ext cx="12188952" cy="5852160"/>
          </a:xfrm>
          <a:prstGeom prst="rect">
            <a:avLst/>
          </a:prstGeom>
          <a:solidFill>
            <a:srgbClr val="F2F2F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9" name="Google Shape;129;p15"/>
          <p:cNvSpPr/>
          <p:nvPr/>
        </p:nvSpPr>
        <p:spPr>
          <a:xfrm>
            <a:off x="0" y="6492240"/>
            <a:ext cx="12188952" cy="3657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0" name="Google Shape;130;p15"/>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sp>
        <p:nvSpPr>
          <p:cNvPr id="131" name="Google Shape;131;p15"/>
          <p:cNvSpPr/>
          <p:nvPr/>
        </p:nvSpPr>
        <p:spPr>
          <a:xfrm>
            <a:off x="274320" y="1097280"/>
            <a:ext cx="11640312" cy="82296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 name="Google Shape;132;p15"/>
          <p:cNvSpPr txBox="1"/>
          <p:nvPr/>
        </p:nvSpPr>
        <p:spPr>
          <a:xfrm>
            <a:off x="411480" y="1133856"/>
            <a:ext cx="32004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i="0" u="none" strike="noStrike" cap="none">
                <a:solidFill>
                  <a:srgbClr val="1A234E"/>
                </a:solidFill>
                <a:latin typeface="Calibri"/>
                <a:ea typeface="Calibri"/>
                <a:cs typeface="Calibri"/>
                <a:sym typeface="Calibri"/>
              </a:rPr>
              <a:t>Ronneberger et al. (2015)</a:t>
            </a:r>
            <a:endParaRPr/>
          </a:p>
        </p:txBody>
      </p:sp>
      <p:sp>
        <p:nvSpPr>
          <p:cNvPr id="133" name="Google Shape;133;p15"/>
          <p:cNvSpPr txBox="1"/>
          <p:nvPr/>
        </p:nvSpPr>
        <p:spPr>
          <a:xfrm>
            <a:off x="411480" y="1444752"/>
            <a:ext cx="5943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1" u="none" strike="noStrike" cap="none">
                <a:solidFill>
                  <a:srgbClr val="444444"/>
                </a:solidFill>
                <a:latin typeface="Calibri"/>
                <a:ea typeface="Calibri"/>
                <a:cs typeface="Calibri"/>
                <a:sym typeface="Calibri"/>
              </a:rPr>
              <a:t>U-Net: Convolutional Networks for Biomedical Image Segmentation</a:t>
            </a:r>
            <a:endParaRPr/>
          </a:p>
        </p:txBody>
      </p:sp>
      <p:sp>
        <p:nvSpPr>
          <p:cNvPr id="134" name="Google Shape;134;p15"/>
          <p:cNvSpPr txBox="1"/>
          <p:nvPr/>
        </p:nvSpPr>
        <p:spPr>
          <a:xfrm>
            <a:off x="6400800" y="1133856"/>
            <a:ext cx="5303520" cy="7132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0" u="none" strike="noStrike" cap="none">
                <a:solidFill>
                  <a:srgbClr val="444444"/>
                </a:solidFill>
                <a:latin typeface="Calibri"/>
                <a:ea typeface="Calibri"/>
                <a:cs typeface="Calibri"/>
                <a:sym typeface="Calibri"/>
              </a:rPr>
              <a:t>Introduced the encoder-decoder architecture with skip connections — the foundational model tested here.</a:t>
            </a:r>
            <a:endParaRPr/>
          </a:p>
        </p:txBody>
      </p:sp>
      <p:sp>
        <p:nvSpPr>
          <p:cNvPr id="135" name="Google Shape;135;p15"/>
          <p:cNvSpPr/>
          <p:nvPr/>
        </p:nvSpPr>
        <p:spPr>
          <a:xfrm>
            <a:off x="274320" y="2029967"/>
            <a:ext cx="11640312" cy="82296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 name="Google Shape;136;p15"/>
          <p:cNvSpPr txBox="1"/>
          <p:nvPr/>
        </p:nvSpPr>
        <p:spPr>
          <a:xfrm>
            <a:off x="411480" y="2066543"/>
            <a:ext cx="32004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i="0" u="none" strike="noStrike" cap="none">
                <a:solidFill>
                  <a:srgbClr val="1A234E"/>
                </a:solidFill>
                <a:latin typeface="Calibri"/>
                <a:ea typeface="Calibri"/>
                <a:cs typeface="Calibri"/>
                <a:sym typeface="Calibri"/>
              </a:rPr>
              <a:t>Oktay et al. (2018)</a:t>
            </a:r>
            <a:endParaRPr/>
          </a:p>
        </p:txBody>
      </p:sp>
      <p:sp>
        <p:nvSpPr>
          <p:cNvPr id="137" name="Google Shape;137;p15"/>
          <p:cNvSpPr txBox="1"/>
          <p:nvPr/>
        </p:nvSpPr>
        <p:spPr>
          <a:xfrm>
            <a:off x="411480" y="2377439"/>
            <a:ext cx="5943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1" u="none" strike="noStrike" cap="none">
                <a:solidFill>
                  <a:srgbClr val="444444"/>
                </a:solidFill>
                <a:latin typeface="Calibri"/>
                <a:ea typeface="Calibri"/>
                <a:cs typeface="Calibri"/>
                <a:sym typeface="Calibri"/>
              </a:rPr>
              <a:t>Attention U-Net: Learning Where to Look for the Pancreas</a:t>
            </a:r>
            <a:endParaRPr/>
          </a:p>
        </p:txBody>
      </p:sp>
      <p:sp>
        <p:nvSpPr>
          <p:cNvPr id="138" name="Google Shape;138;p15"/>
          <p:cNvSpPr txBox="1"/>
          <p:nvPr/>
        </p:nvSpPr>
        <p:spPr>
          <a:xfrm>
            <a:off x="6400800" y="2066543"/>
            <a:ext cx="5303520" cy="7132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0" u="none" strike="noStrike" cap="none">
                <a:solidFill>
                  <a:srgbClr val="444444"/>
                </a:solidFill>
                <a:latin typeface="Calibri"/>
                <a:ea typeface="Calibri"/>
                <a:cs typeface="Calibri"/>
                <a:sym typeface="Calibri"/>
              </a:rPr>
              <a:t>Extended U-Net with soft attention gates at skip connections; adopted here for LV boundary focus.</a:t>
            </a:r>
            <a:endParaRPr/>
          </a:p>
        </p:txBody>
      </p:sp>
      <p:sp>
        <p:nvSpPr>
          <p:cNvPr id="139" name="Google Shape;139;p15"/>
          <p:cNvSpPr/>
          <p:nvPr/>
        </p:nvSpPr>
        <p:spPr>
          <a:xfrm>
            <a:off x="274320" y="2962656"/>
            <a:ext cx="11640312" cy="82296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0" name="Google Shape;140;p15"/>
          <p:cNvSpPr txBox="1"/>
          <p:nvPr/>
        </p:nvSpPr>
        <p:spPr>
          <a:xfrm>
            <a:off x="411480" y="2999232"/>
            <a:ext cx="32004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i="0" u="none" strike="noStrike" cap="none">
                <a:solidFill>
                  <a:srgbClr val="1A234E"/>
                </a:solidFill>
                <a:latin typeface="Calibri"/>
                <a:ea typeface="Calibri"/>
                <a:cs typeface="Calibri"/>
                <a:sym typeface="Calibri"/>
              </a:rPr>
              <a:t>Long et al. (2015)</a:t>
            </a:r>
            <a:endParaRPr/>
          </a:p>
        </p:txBody>
      </p:sp>
      <p:sp>
        <p:nvSpPr>
          <p:cNvPr id="141" name="Google Shape;141;p15"/>
          <p:cNvSpPr txBox="1"/>
          <p:nvPr/>
        </p:nvSpPr>
        <p:spPr>
          <a:xfrm>
            <a:off x="411480" y="3310127"/>
            <a:ext cx="5943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1" u="none" strike="noStrike" cap="none">
                <a:solidFill>
                  <a:srgbClr val="444444"/>
                </a:solidFill>
                <a:latin typeface="Calibri"/>
                <a:ea typeface="Calibri"/>
                <a:cs typeface="Calibri"/>
                <a:sym typeface="Calibri"/>
              </a:rPr>
              <a:t>Fully Convolutional Networks (FCN) for Semantic Segmentation</a:t>
            </a:r>
            <a:endParaRPr/>
          </a:p>
        </p:txBody>
      </p:sp>
      <p:sp>
        <p:nvSpPr>
          <p:cNvPr id="142" name="Google Shape;142;p15"/>
          <p:cNvSpPr txBox="1"/>
          <p:nvPr/>
        </p:nvSpPr>
        <p:spPr>
          <a:xfrm>
            <a:off x="6400800" y="2999232"/>
            <a:ext cx="5303520" cy="7132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0" u="none" strike="noStrike" cap="none">
                <a:solidFill>
                  <a:srgbClr val="444444"/>
                </a:solidFill>
                <a:latin typeface="Calibri"/>
                <a:ea typeface="Calibri"/>
                <a:cs typeface="Calibri"/>
                <a:sym typeface="Calibri"/>
              </a:rPr>
              <a:t>Established FCN-style encoder-decoder baseline — the design behind NormalCNN tested here.</a:t>
            </a:r>
            <a:endParaRPr/>
          </a:p>
        </p:txBody>
      </p:sp>
      <p:sp>
        <p:nvSpPr>
          <p:cNvPr id="143" name="Google Shape;143;p15"/>
          <p:cNvSpPr/>
          <p:nvPr/>
        </p:nvSpPr>
        <p:spPr>
          <a:xfrm>
            <a:off x="274320" y="3895344"/>
            <a:ext cx="11640312" cy="82296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15"/>
          <p:cNvSpPr txBox="1"/>
          <p:nvPr/>
        </p:nvSpPr>
        <p:spPr>
          <a:xfrm>
            <a:off x="411480" y="3931920"/>
            <a:ext cx="32004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i="0" u="none" strike="noStrike" cap="none">
                <a:solidFill>
                  <a:srgbClr val="1A234E"/>
                </a:solidFill>
                <a:latin typeface="Calibri"/>
                <a:ea typeface="Calibri"/>
                <a:cs typeface="Calibri"/>
                <a:sym typeface="Calibri"/>
              </a:rPr>
              <a:t>Dosovitskiy et al. (2020)</a:t>
            </a:r>
            <a:endParaRPr/>
          </a:p>
        </p:txBody>
      </p:sp>
      <p:sp>
        <p:nvSpPr>
          <p:cNvPr id="145" name="Google Shape;145;p15"/>
          <p:cNvSpPr txBox="1"/>
          <p:nvPr/>
        </p:nvSpPr>
        <p:spPr>
          <a:xfrm>
            <a:off x="411480" y="4242816"/>
            <a:ext cx="5943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1" u="none" strike="noStrike" cap="none">
                <a:solidFill>
                  <a:srgbClr val="444444"/>
                </a:solidFill>
                <a:latin typeface="Calibri"/>
                <a:ea typeface="Calibri"/>
                <a:cs typeface="Calibri"/>
                <a:sym typeface="Calibri"/>
              </a:rPr>
              <a:t>An Image is Worth 16×16 Words: Transformers for Image Recognition</a:t>
            </a:r>
            <a:endParaRPr/>
          </a:p>
        </p:txBody>
      </p:sp>
      <p:sp>
        <p:nvSpPr>
          <p:cNvPr id="146" name="Google Shape;146;p15"/>
          <p:cNvSpPr txBox="1"/>
          <p:nvPr/>
        </p:nvSpPr>
        <p:spPr>
          <a:xfrm>
            <a:off x="6400800" y="3931920"/>
            <a:ext cx="5303520" cy="7132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0" u="none" strike="noStrike" cap="none">
                <a:solidFill>
                  <a:srgbClr val="444444"/>
                </a:solidFill>
                <a:latin typeface="Calibri"/>
                <a:ea typeface="Calibri"/>
                <a:cs typeface="Calibri"/>
                <a:sym typeface="Calibri"/>
              </a:rPr>
              <a:t>Introduced Vision Transformers (ViT); adapted here as ViTSeg with 7×7 patches for 70×70 SPECT.</a:t>
            </a:r>
            <a:endParaRPr/>
          </a:p>
        </p:txBody>
      </p:sp>
      <p:sp>
        <p:nvSpPr>
          <p:cNvPr id="147" name="Google Shape;147;p15"/>
          <p:cNvSpPr/>
          <p:nvPr/>
        </p:nvSpPr>
        <p:spPr>
          <a:xfrm>
            <a:off x="274320" y="4828031"/>
            <a:ext cx="11640312" cy="82296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5"/>
          <p:cNvSpPr txBox="1"/>
          <p:nvPr/>
        </p:nvSpPr>
        <p:spPr>
          <a:xfrm>
            <a:off x="411480" y="4864607"/>
            <a:ext cx="32004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1" i="0" u="none" strike="noStrike" cap="none">
                <a:solidFill>
                  <a:srgbClr val="1A234E"/>
                </a:solidFill>
                <a:latin typeface="Calibri"/>
                <a:ea typeface="Calibri"/>
                <a:cs typeface="Calibri"/>
                <a:sym typeface="Calibri"/>
              </a:rPr>
              <a:t>Betancur et al. (2018)</a:t>
            </a:r>
            <a:endParaRPr/>
          </a:p>
        </p:txBody>
      </p:sp>
      <p:sp>
        <p:nvSpPr>
          <p:cNvPr id="149" name="Google Shape;149;p15"/>
          <p:cNvSpPr txBox="1"/>
          <p:nvPr/>
        </p:nvSpPr>
        <p:spPr>
          <a:xfrm>
            <a:off x="411480" y="5175503"/>
            <a:ext cx="59436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1" u="none" strike="noStrike" cap="none">
                <a:solidFill>
                  <a:srgbClr val="444444"/>
                </a:solidFill>
                <a:latin typeface="Calibri"/>
                <a:ea typeface="Calibri"/>
                <a:cs typeface="Calibri"/>
                <a:sym typeface="Calibri"/>
              </a:rPr>
              <a:t>Deep Learning for Prediction of Obstructive Disease from Fast MPI</a:t>
            </a:r>
            <a:endParaRPr/>
          </a:p>
        </p:txBody>
      </p:sp>
      <p:sp>
        <p:nvSpPr>
          <p:cNvPr id="150" name="Google Shape;150;p15"/>
          <p:cNvSpPr txBox="1"/>
          <p:nvPr/>
        </p:nvSpPr>
        <p:spPr>
          <a:xfrm>
            <a:off x="6400800" y="4864607"/>
            <a:ext cx="5303520" cy="7132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0" i="0" u="none" strike="noStrike" cap="none">
                <a:solidFill>
                  <a:srgbClr val="444444"/>
                </a:solidFill>
                <a:latin typeface="Calibri"/>
                <a:ea typeface="Calibri"/>
                <a:cs typeface="Calibri"/>
                <a:sym typeface="Calibri"/>
              </a:rPr>
              <a:t>Demonstrated CNN applicability to myocardial perfusion SPECT clinical tasks.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6"/>
          <p:cNvSpPr/>
          <p:nvPr/>
        </p:nvSpPr>
        <p:spPr>
          <a:xfrm>
            <a:off x="0" y="0"/>
            <a:ext cx="12188952" cy="100584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6" name="Google Shape;156;p16"/>
          <p:cNvSpPr txBox="1"/>
          <p:nvPr/>
        </p:nvSpPr>
        <p:spPr>
          <a:xfrm>
            <a:off x="274320" y="91440"/>
            <a:ext cx="11430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FFFFFF"/>
                </a:solidFill>
                <a:latin typeface="Calibri"/>
                <a:ea typeface="Calibri"/>
                <a:cs typeface="Calibri"/>
                <a:sym typeface="Calibri"/>
              </a:rPr>
              <a:t>What We Did — Research Plan</a:t>
            </a:r>
            <a:endParaRPr/>
          </a:p>
        </p:txBody>
      </p:sp>
      <p:sp>
        <p:nvSpPr>
          <p:cNvPr id="157" name="Google Shape;157;p16"/>
          <p:cNvSpPr/>
          <p:nvPr/>
        </p:nvSpPr>
        <p:spPr>
          <a:xfrm>
            <a:off x="0" y="1040862"/>
            <a:ext cx="12188952" cy="5852160"/>
          </a:xfrm>
          <a:prstGeom prst="rect">
            <a:avLst/>
          </a:prstGeom>
          <a:solidFill>
            <a:srgbClr val="F2F2F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158" name="Google Shape;158;p16"/>
          <p:cNvSpPr/>
          <p:nvPr/>
        </p:nvSpPr>
        <p:spPr>
          <a:xfrm>
            <a:off x="0" y="6492240"/>
            <a:ext cx="12188952" cy="3657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9" name="Google Shape;159;p16"/>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sp>
        <p:nvSpPr>
          <p:cNvPr id="160" name="Google Shape;160;p16"/>
          <p:cNvSpPr txBox="1"/>
          <p:nvPr/>
        </p:nvSpPr>
        <p:spPr>
          <a:xfrm>
            <a:off x="457200" y="1188720"/>
            <a:ext cx="1124712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rgbClr val="444444"/>
                </a:solidFill>
                <a:latin typeface="Calibri"/>
                <a:ea typeface="Calibri"/>
                <a:cs typeface="Calibri"/>
                <a:sym typeface="Calibri"/>
              </a:rPr>
              <a:t>• Dataset: PhysioNet MPS Image Database v1.0 (96 usable SPECT patients)</a:t>
            </a:r>
          </a:p>
        </p:txBody>
      </p:sp>
      <p:sp>
        <p:nvSpPr>
          <p:cNvPr id="161" name="Google Shape;161;p16"/>
          <p:cNvSpPr txBox="1"/>
          <p:nvPr/>
        </p:nvSpPr>
        <p:spPr>
          <a:xfrm>
            <a:off x="457200" y="1634694"/>
            <a:ext cx="11247120" cy="4114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rgbClr val="444444"/>
                </a:solidFill>
                <a:latin typeface="Calibri"/>
                <a:ea typeface="Calibri"/>
                <a:cs typeface="Calibri"/>
                <a:sym typeface="Calibri"/>
              </a:rPr>
              <a:t>• Task: 2D slice-level LV myocardial wall segmentation (binary mask)</a:t>
            </a:r>
            <a:endParaRPr dirty="0"/>
          </a:p>
        </p:txBody>
      </p:sp>
      <p:sp>
        <p:nvSpPr>
          <p:cNvPr id="162" name="Google Shape;162;p16"/>
          <p:cNvSpPr txBox="1"/>
          <p:nvPr/>
        </p:nvSpPr>
        <p:spPr>
          <a:xfrm>
            <a:off x="457200" y="2141071"/>
            <a:ext cx="11247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444444"/>
                </a:solidFill>
                <a:latin typeface="Calibri"/>
                <a:ea typeface="Calibri"/>
                <a:cs typeface="Calibri"/>
                <a:sym typeface="Calibri"/>
              </a:rPr>
              <a:t>• Train four architectures two from scratch</a:t>
            </a:r>
            <a:r>
              <a:rPr lang="en-US" sz="1800">
                <a:solidFill>
                  <a:srgbClr val="444444"/>
                </a:solidFill>
                <a:latin typeface="Calibri"/>
                <a:ea typeface="Calibri"/>
                <a:cs typeface="Calibri"/>
                <a:sym typeface="Calibri"/>
              </a:rPr>
              <a:t> and two </a:t>
            </a:r>
            <a:r>
              <a:rPr lang="en-US" sz="1800" b="0" i="0" u="none" strike="noStrike" cap="none">
                <a:solidFill>
                  <a:srgbClr val="444444"/>
                </a:solidFill>
                <a:latin typeface="Calibri"/>
                <a:ea typeface="Calibri"/>
                <a:cs typeface="Calibri"/>
                <a:sym typeface="Calibri"/>
              </a:rPr>
              <a:t>pretrained weights</a:t>
            </a:r>
            <a:endParaRPr/>
          </a:p>
        </p:txBody>
      </p:sp>
      <p:sp>
        <p:nvSpPr>
          <p:cNvPr id="163" name="Google Shape;163;p16"/>
          <p:cNvSpPr txBox="1"/>
          <p:nvPr/>
        </p:nvSpPr>
        <p:spPr>
          <a:xfrm>
            <a:off x="640080" y="2449038"/>
            <a:ext cx="109728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1" u="none" strike="noStrike" cap="none">
                <a:solidFill>
                  <a:srgbClr val="444444"/>
                </a:solidFill>
                <a:latin typeface="Calibri"/>
                <a:ea typeface="Calibri"/>
                <a:cs typeface="Calibri"/>
                <a:sym typeface="Calibri"/>
              </a:rPr>
              <a:t>    – U-Net · Attention U-Net · CNN  · ViTSeg</a:t>
            </a:r>
            <a:endParaRPr/>
          </a:p>
        </p:txBody>
      </p:sp>
      <p:sp>
        <p:nvSpPr>
          <p:cNvPr id="164" name="Google Shape;164;p16"/>
          <p:cNvSpPr txBox="1"/>
          <p:nvPr/>
        </p:nvSpPr>
        <p:spPr>
          <a:xfrm>
            <a:off x="457200" y="2925900"/>
            <a:ext cx="11247120" cy="4114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rgbClr val="444444"/>
                </a:solidFill>
                <a:latin typeface="Calibri"/>
                <a:ea typeface="Calibri"/>
                <a:cs typeface="Calibri"/>
                <a:sym typeface="Calibri"/>
              </a:rPr>
              <a:t>• Unified training pipeline: same loss, optimizer, augmentation for all models</a:t>
            </a:r>
            <a:endParaRPr dirty="0"/>
          </a:p>
        </p:txBody>
      </p:sp>
      <p:sp>
        <p:nvSpPr>
          <p:cNvPr id="165" name="Google Shape;165;p16"/>
          <p:cNvSpPr txBox="1"/>
          <p:nvPr/>
        </p:nvSpPr>
        <p:spPr>
          <a:xfrm>
            <a:off x="640080" y="3242494"/>
            <a:ext cx="10972800" cy="3474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1" u="none" strike="noStrike" cap="none" dirty="0">
                <a:solidFill>
                  <a:srgbClr val="444444"/>
                </a:solidFill>
                <a:latin typeface="Calibri"/>
                <a:ea typeface="Calibri"/>
                <a:cs typeface="Calibri"/>
                <a:sym typeface="Calibri"/>
              </a:rPr>
              <a:t>    – BCE + Dice loss · Adam · CosineAnnealingWarmRestarts · Early stopping</a:t>
            </a:r>
            <a:endParaRPr dirty="0"/>
          </a:p>
        </p:txBody>
      </p:sp>
      <p:sp>
        <p:nvSpPr>
          <p:cNvPr id="166" name="Google Shape;166;p16"/>
          <p:cNvSpPr txBox="1"/>
          <p:nvPr/>
        </p:nvSpPr>
        <p:spPr>
          <a:xfrm>
            <a:off x="457080" y="3667464"/>
            <a:ext cx="1124712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rgbClr val="444444"/>
                </a:solidFill>
                <a:latin typeface="Calibri"/>
                <a:ea typeface="Calibri"/>
                <a:cs typeface="Calibri"/>
                <a:sym typeface="Calibri"/>
              </a:rPr>
              <a:t>• Evaluate on held-out test set (14 patients) using various metrics</a:t>
            </a:r>
            <a:endParaRPr dirty="0"/>
          </a:p>
        </p:txBody>
      </p:sp>
      <p:sp>
        <p:nvSpPr>
          <p:cNvPr id="167" name="Google Shape;167;p16"/>
          <p:cNvSpPr txBox="1"/>
          <p:nvPr/>
        </p:nvSpPr>
        <p:spPr>
          <a:xfrm>
            <a:off x="640080" y="3966942"/>
            <a:ext cx="109728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0" i="1" u="none" strike="noStrike" cap="none">
                <a:solidFill>
                  <a:srgbClr val="444444"/>
                </a:solidFill>
                <a:latin typeface="Calibri"/>
                <a:ea typeface="Calibri"/>
                <a:cs typeface="Calibri"/>
                <a:sym typeface="Calibri"/>
              </a:rPr>
              <a:t>    – DSC · IoU · Sensitivity · Specificity · </a:t>
            </a:r>
            <a:endParaRPr/>
          </a:p>
        </p:txBody>
      </p:sp>
      <p:sp>
        <p:nvSpPr>
          <p:cNvPr id="168" name="Google Shape;168;p16"/>
          <p:cNvSpPr txBox="1"/>
          <p:nvPr/>
        </p:nvSpPr>
        <p:spPr>
          <a:xfrm>
            <a:off x="457200" y="4573206"/>
            <a:ext cx="11247120" cy="4114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rgbClr val="444444"/>
                </a:solidFill>
                <a:latin typeface="Calibri"/>
                <a:ea typeface="Calibri"/>
                <a:cs typeface="Calibri"/>
                <a:sym typeface="Calibri"/>
              </a:rPr>
              <a:t>• Identify the best model for clinical deployment based on DSC ≥ 0.80 threshold</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7"/>
          <p:cNvSpPr/>
          <p:nvPr/>
        </p:nvSpPr>
        <p:spPr>
          <a:xfrm>
            <a:off x="0" y="0"/>
            <a:ext cx="12188952" cy="100584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p17"/>
          <p:cNvSpPr txBox="1"/>
          <p:nvPr/>
        </p:nvSpPr>
        <p:spPr>
          <a:xfrm>
            <a:off x="274320" y="91440"/>
            <a:ext cx="11430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i="0" u="none" strike="noStrike" cap="none" dirty="0">
                <a:solidFill>
                  <a:srgbClr val="FFFFFF"/>
                </a:solidFill>
                <a:latin typeface="Calibri"/>
                <a:ea typeface="Calibri"/>
                <a:cs typeface="Calibri"/>
                <a:sym typeface="Calibri"/>
              </a:rPr>
              <a:t>Dataset — PhysioNet MPS Image Database v1.0</a:t>
            </a:r>
            <a:endParaRPr dirty="0"/>
          </a:p>
        </p:txBody>
      </p:sp>
      <p:sp>
        <p:nvSpPr>
          <p:cNvPr id="175" name="Google Shape;175;p17"/>
          <p:cNvSpPr/>
          <p:nvPr/>
        </p:nvSpPr>
        <p:spPr>
          <a:xfrm>
            <a:off x="0" y="1005840"/>
            <a:ext cx="12188952" cy="5852160"/>
          </a:xfrm>
          <a:prstGeom prst="rect">
            <a:avLst/>
          </a:prstGeom>
          <a:solidFill>
            <a:srgbClr val="F2F2F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6" name="Google Shape;176;p17"/>
          <p:cNvSpPr/>
          <p:nvPr/>
        </p:nvSpPr>
        <p:spPr>
          <a:xfrm>
            <a:off x="0" y="6492240"/>
            <a:ext cx="12188952" cy="3657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7" name="Google Shape;177;p17"/>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sp>
        <p:nvSpPr>
          <p:cNvPr id="178" name="Google Shape;178;p17"/>
          <p:cNvSpPr/>
          <p:nvPr/>
        </p:nvSpPr>
        <p:spPr>
          <a:xfrm>
            <a:off x="274320" y="1143000"/>
            <a:ext cx="5303520" cy="521208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9" name="Google Shape;179;p17"/>
          <p:cNvSpPr txBox="1"/>
          <p:nvPr/>
        </p:nvSpPr>
        <p:spPr>
          <a:xfrm>
            <a:off x="457200" y="1234440"/>
            <a:ext cx="4937760" cy="3231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dirty="0">
                <a:solidFill>
                  <a:srgbClr val="1A234E"/>
                </a:solidFill>
                <a:latin typeface="Calibri"/>
                <a:ea typeface="Calibri"/>
                <a:cs typeface="Calibri"/>
                <a:sym typeface="Calibri"/>
              </a:rPr>
              <a:t>Dataset Overview</a:t>
            </a:r>
            <a:endParaRPr dirty="0"/>
          </a:p>
        </p:txBody>
      </p:sp>
      <p:sp>
        <p:nvSpPr>
          <p:cNvPr id="181" name="Google Shape;181;p17"/>
          <p:cNvSpPr txBox="1"/>
          <p:nvPr/>
        </p:nvSpPr>
        <p:spPr>
          <a:xfrm>
            <a:off x="457200" y="1753926"/>
            <a:ext cx="50292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dirty="0">
                <a:solidFill>
                  <a:srgbClr val="444444"/>
                </a:solidFill>
                <a:latin typeface="Calibri"/>
                <a:ea typeface="Calibri"/>
                <a:cs typeface="Calibri"/>
                <a:sym typeface="Calibri"/>
              </a:rPr>
              <a:t>Link: https://www.physionet.org/content/myocardial-perfusion-spect/1.0.0/</a:t>
            </a:r>
            <a:endParaRPr dirty="0"/>
          </a:p>
        </p:txBody>
      </p:sp>
      <p:sp>
        <p:nvSpPr>
          <p:cNvPr id="182" name="Google Shape;182;p17"/>
          <p:cNvSpPr txBox="1"/>
          <p:nvPr/>
        </p:nvSpPr>
        <p:spPr>
          <a:xfrm>
            <a:off x="457200" y="2092254"/>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dirty="0">
                <a:solidFill>
                  <a:srgbClr val="444444"/>
                </a:solidFill>
                <a:latin typeface="Calibri"/>
                <a:ea typeface="Calibri"/>
                <a:cs typeface="Calibri"/>
                <a:sym typeface="Calibri"/>
              </a:rPr>
              <a:t>Format: DICOM volumes + NIfTI masks (.</a:t>
            </a:r>
            <a:r>
              <a:rPr lang="en-US" sz="1200" b="0" i="0" u="none" strike="noStrike" cap="none" dirty="0" err="1">
                <a:solidFill>
                  <a:srgbClr val="444444"/>
                </a:solidFill>
                <a:latin typeface="Calibri"/>
                <a:ea typeface="Calibri"/>
                <a:cs typeface="Calibri"/>
                <a:sym typeface="Calibri"/>
              </a:rPr>
              <a:t>nii</a:t>
            </a:r>
            <a:r>
              <a:rPr lang="en-US" sz="1200" b="0" i="0" u="none" strike="noStrike" cap="none" dirty="0">
                <a:solidFill>
                  <a:srgbClr val="444444"/>
                </a:solidFill>
                <a:latin typeface="Calibri"/>
                <a:ea typeface="Calibri"/>
                <a:cs typeface="Calibri"/>
                <a:sym typeface="Calibri"/>
              </a:rPr>
              <a:t>)</a:t>
            </a:r>
            <a:endParaRPr dirty="0"/>
          </a:p>
        </p:txBody>
      </p:sp>
      <p:sp>
        <p:nvSpPr>
          <p:cNvPr id="183" name="Google Shape;183;p17"/>
          <p:cNvSpPr txBox="1"/>
          <p:nvPr/>
        </p:nvSpPr>
        <p:spPr>
          <a:xfrm>
            <a:off x="457200" y="2430582"/>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Resolution: 70 × 70 pixels (native, no resize)</a:t>
            </a:r>
            <a:endParaRPr/>
          </a:p>
        </p:txBody>
      </p:sp>
      <p:sp>
        <p:nvSpPr>
          <p:cNvPr id="184" name="Google Shape;184;p17"/>
          <p:cNvSpPr txBox="1"/>
          <p:nvPr/>
        </p:nvSpPr>
        <p:spPr>
          <a:xfrm>
            <a:off x="457200" y="2768910"/>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Total patients: 99</a:t>
            </a:r>
            <a:endParaRPr/>
          </a:p>
        </p:txBody>
      </p:sp>
      <p:sp>
        <p:nvSpPr>
          <p:cNvPr id="185" name="Google Shape;185;p17"/>
          <p:cNvSpPr txBox="1"/>
          <p:nvPr/>
        </p:nvSpPr>
        <p:spPr>
          <a:xfrm>
            <a:off x="457200" y="3107238"/>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Excluded (BAD_UIDS): 3</a:t>
            </a:r>
            <a:endParaRPr/>
          </a:p>
        </p:txBody>
      </p:sp>
      <p:sp>
        <p:nvSpPr>
          <p:cNvPr id="186" name="Google Shape;186;p17"/>
          <p:cNvSpPr txBox="1"/>
          <p:nvPr/>
        </p:nvSpPr>
        <p:spPr>
          <a:xfrm>
            <a:off x="457200" y="3445566"/>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 2 — missing segmentation mask</a:t>
            </a:r>
            <a:endParaRPr/>
          </a:p>
        </p:txBody>
      </p:sp>
      <p:sp>
        <p:nvSpPr>
          <p:cNvPr id="187" name="Google Shape;187;p17"/>
          <p:cNvSpPr txBox="1"/>
          <p:nvPr/>
        </p:nvSpPr>
        <p:spPr>
          <a:xfrm>
            <a:off x="457200" y="3783894"/>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 1 — corrupted mask (~19 KB)</a:t>
            </a:r>
            <a:endParaRPr/>
          </a:p>
        </p:txBody>
      </p:sp>
      <p:sp>
        <p:nvSpPr>
          <p:cNvPr id="188" name="Google Shape;188;p17"/>
          <p:cNvSpPr txBox="1"/>
          <p:nvPr/>
        </p:nvSpPr>
        <p:spPr>
          <a:xfrm>
            <a:off x="457200" y="4122222"/>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Usable patients: 96</a:t>
            </a:r>
            <a:endParaRPr/>
          </a:p>
        </p:txBody>
      </p:sp>
      <p:sp>
        <p:nvSpPr>
          <p:cNvPr id="189" name="Google Shape;189;p17"/>
          <p:cNvSpPr txBox="1"/>
          <p:nvPr/>
        </p:nvSpPr>
        <p:spPr>
          <a:xfrm>
            <a:off x="457200" y="4460550"/>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dirty="0">
                <a:solidFill>
                  <a:srgbClr val="444444"/>
                </a:solidFill>
                <a:latin typeface="Calibri"/>
                <a:ea typeface="Calibri"/>
                <a:cs typeface="Calibri"/>
                <a:sym typeface="Calibri"/>
              </a:rPr>
              <a:t>Split (patient-level):</a:t>
            </a:r>
            <a:endParaRPr dirty="0"/>
          </a:p>
        </p:txBody>
      </p:sp>
      <p:sp>
        <p:nvSpPr>
          <p:cNvPr id="190" name="Google Shape;190;p17"/>
          <p:cNvSpPr txBox="1"/>
          <p:nvPr/>
        </p:nvSpPr>
        <p:spPr>
          <a:xfrm>
            <a:off x="457200" y="4798878"/>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 Train: 68 patients</a:t>
            </a:r>
            <a:endParaRPr/>
          </a:p>
        </p:txBody>
      </p:sp>
      <p:sp>
        <p:nvSpPr>
          <p:cNvPr id="191" name="Google Shape;191;p17"/>
          <p:cNvSpPr txBox="1"/>
          <p:nvPr/>
        </p:nvSpPr>
        <p:spPr>
          <a:xfrm>
            <a:off x="457200" y="5137206"/>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 Validation: 14 patients</a:t>
            </a:r>
            <a:endParaRPr/>
          </a:p>
        </p:txBody>
      </p:sp>
      <p:sp>
        <p:nvSpPr>
          <p:cNvPr id="192" name="Google Shape;192;p17"/>
          <p:cNvSpPr txBox="1"/>
          <p:nvPr/>
        </p:nvSpPr>
        <p:spPr>
          <a:xfrm>
            <a:off x="457200" y="5475534"/>
            <a:ext cx="502920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 Test: 14 patients</a:t>
            </a:r>
            <a:endParaRPr/>
          </a:p>
        </p:txBody>
      </p:sp>
      <p:sp>
        <p:nvSpPr>
          <p:cNvPr id="193" name="Google Shape;193;p17"/>
          <p:cNvSpPr/>
          <p:nvPr/>
        </p:nvSpPr>
        <p:spPr>
          <a:xfrm>
            <a:off x="6126480" y="1143000"/>
            <a:ext cx="5486400" cy="521208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4" name="Google Shape;194;p17"/>
          <p:cNvSpPr txBox="1"/>
          <p:nvPr/>
        </p:nvSpPr>
        <p:spPr>
          <a:xfrm>
            <a:off x="6309360" y="1234440"/>
            <a:ext cx="5120640" cy="4114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1A234E"/>
                </a:solidFill>
                <a:latin typeface="Calibri"/>
                <a:ea typeface="Calibri"/>
                <a:cs typeface="Calibri"/>
                <a:sym typeface="Calibri"/>
              </a:rPr>
              <a:t>Key Properties</a:t>
            </a:r>
            <a:endParaRPr/>
          </a:p>
        </p:txBody>
      </p:sp>
      <p:sp>
        <p:nvSpPr>
          <p:cNvPr id="195" name="Google Shape;195;p17"/>
          <p:cNvSpPr txBox="1"/>
          <p:nvPr/>
        </p:nvSpPr>
        <p:spPr>
          <a:xfrm>
            <a:off x="6309360" y="1691640"/>
            <a:ext cx="512064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dirty="0">
                <a:solidFill>
                  <a:srgbClr val="444444"/>
                </a:solidFill>
                <a:latin typeface="Calibri"/>
                <a:ea typeface="Calibri"/>
                <a:cs typeface="Calibri"/>
                <a:sym typeface="Calibri"/>
              </a:rPr>
              <a:t>Patient-level split → no data leakage</a:t>
            </a:r>
            <a:endParaRPr dirty="0"/>
          </a:p>
        </p:txBody>
      </p:sp>
      <p:sp>
        <p:nvSpPr>
          <p:cNvPr id="196" name="Google Shape;196;p17"/>
          <p:cNvSpPr txBox="1"/>
          <p:nvPr/>
        </p:nvSpPr>
        <p:spPr>
          <a:xfrm>
            <a:off x="6309360" y="2029968"/>
            <a:ext cx="512064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across train / val / test boundaries</a:t>
            </a:r>
            <a:endParaRPr/>
          </a:p>
        </p:txBody>
      </p:sp>
      <p:sp>
        <p:nvSpPr>
          <p:cNvPr id="197" name="Google Shape;197;p17"/>
          <p:cNvSpPr txBox="1"/>
          <p:nvPr/>
        </p:nvSpPr>
        <p:spPr>
          <a:xfrm>
            <a:off x="6309360" y="2706624"/>
            <a:ext cx="512064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dirty="0">
                <a:solidFill>
                  <a:srgbClr val="444444"/>
                </a:solidFill>
                <a:latin typeface="Calibri"/>
                <a:ea typeface="Calibri"/>
                <a:cs typeface="Calibri"/>
                <a:sym typeface="Calibri"/>
              </a:rPr>
              <a:t>Target: binary LV myocardial wall mask</a:t>
            </a:r>
            <a:endParaRPr dirty="0"/>
          </a:p>
        </p:txBody>
      </p:sp>
      <p:sp>
        <p:nvSpPr>
          <p:cNvPr id="198" name="Google Shape;198;p17"/>
          <p:cNvSpPr txBox="1"/>
          <p:nvPr/>
        </p:nvSpPr>
        <p:spPr>
          <a:xfrm>
            <a:off x="6309360" y="3044952"/>
            <a:ext cx="512064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dirty="0">
                <a:solidFill>
                  <a:srgbClr val="444444"/>
                </a:solidFill>
                <a:latin typeface="Calibri"/>
                <a:ea typeface="Calibri"/>
                <a:cs typeface="Calibri"/>
                <a:sym typeface="Calibri"/>
              </a:rPr>
              <a:t>  (mask </a:t>
            </a:r>
            <a:r>
              <a:rPr lang="en-US" sz="1200" b="0" i="0" u="none" strike="noStrike" cap="none" dirty="0" err="1">
                <a:solidFill>
                  <a:srgbClr val="444444"/>
                </a:solidFill>
                <a:latin typeface="Calibri"/>
                <a:ea typeface="Calibri"/>
                <a:cs typeface="Calibri"/>
                <a:sym typeface="Calibri"/>
              </a:rPr>
              <a:t>binarised</a:t>
            </a:r>
            <a:r>
              <a:rPr lang="en-US" sz="1200" b="0" i="0" u="none" strike="noStrike" cap="none" dirty="0">
                <a:solidFill>
                  <a:srgbClr val="444444"/>
                </a:solidFill>
                <a:latin typeface="Calibri"/>
                <a:ea typeface="Calibri"/>
                <a:cs typeface="Calibri"/>
                <a:sym typeface="Calibri"/>
              </a:rPr>
              <a:t> at threshold 0.5)</a:t>
            </a:r>
            <a:endParaRPr dirty="0"/>
          </a:p>
        </p:txBody>
      </p:sp>
      <p:sp>
        <p:nvSpPr>
          <p:cNvPr id="199" name="Google Shape;199;p17"/>
          <p:cNvSpPr txBox="1"/>
          <p:nvPr/>
        </p:nvSpPr>
        <p:spPr>
          <a:xfrm>
            <a:off x="6309360" y="3552446"/>
            <a:ext cx="51207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dirty="0">
                <a:solidFill>
                  <a:srgbClr val="444444"/>
                </a:solidFill>
                <a:latin typeface="Calibri"/>
                <a:ea typeface="Calibri"/>
                <a:cs typeface="Calibri"/>
                <a:sym typeface="Calibri"/>
              </a:rPr>
              <a:t>DICOM pixel arrays stacked into 3D</a:t>
            </a:r>
            <a:endParaRPr dirty="0"/>
          </a:p>
        </p:txBody>
      </p:sp>
      <p:sp>
        <p:nvSpPr>
          <p:cNvPr id="200" name="Google Shape;200;p17"/>
          <p:cNvSpPr txBox="1"/>
          <p:nvPr/>
        </p:nvSpPr>
        <p:spPr>
          <a:xfrm>
            <a:off x="6309360" y="4059936"/>
            <a:ext cx="5120640"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dirty="0">
                <a:solidFill>
                  <a:srgbClr val="444444"/>
                </a:solidFill>
                <a:latin typeface="Calibri"/>
                <a:ea typeface="Calibri"/>
                <a:cs typeface="Calibri"/>
                <a:sym typeface="Calibri"/>
              </a:rPr>
              <a:t>Volumes:  NIfTI masks transposed to</a:t>
            </a:r>
            <a:endParaRPr dirty="0"/>
          </a:p>
        </p:txBody>
      </p:sp>
      <p:sp>
        <p:nvSpPr>
          <p:cNvPr id="201" name="Google Shape;201;p17"/>
          <p:cNvSpPr txBox="1"/>
          <p:nvPr/>
        </p:nvSpPr>
        <p:spPr>
          <a:xfrm>
            <a:off x="6309360" y="4398264"/>
            <a:ext cx="512064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dirty="0">
                <a:solidFill>
                  <a:srgbClr val="444444"/>
                </a:solidFill>
                <a:latin typeface="Calibri"/>
                <a:ea typeface="Calibri"/>
                <a:cs typeface="Calibri"/>
                <a:sym typeface="Calibri"/>
              </a:rPr>
              <a:t>match DICOM (z, y, x) orientation</a:t>
            </a:r>
            <a:endParaRPr dirty="0"/>
          </a:p>
        </p:txBody>
      </p:sp>
      <p:sp>
        <p:nvSpPr>
          <p:cNvPr id="202" name="Google Shape;202;p17"/>
          <p:cNvSpPr txBox="1"/>
          <p:nvPr/>
        </p:nvSpPr>
        <p:spPr>
          <a:xfrm>
            <a:off x="6309360" y="4736592"/>
            <a:ext cx="5120640" cy="3383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3" name="Google Shape;203;p17"/>
          <p:cNvSpPr txBox="1"/>
          <p:nvPr/>
        </p:nvSpPr>
        <p:spPr>
          <a:xfrm>
            <a:off x="6309360" y="5074920"/>
            <a:ext cx="51207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204" name="Google Shape;204;p17"/>
          <p:cNvSpPr txBox="1"/>
          <p:nvPr/>
        </p:nvSpPr>
        <p:spPr>
          <a:xfrm>
            <a:off x="6309360" y="5413248"/>
            <a:ext cx="51207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205" name="Google Shape;205;p17"/>
          <p:cNvSpPr txBox="1"/>
          <p:nvPr/>
        </p:nvSpPr>
        <p:spPr>
          <a:xfrm>
            <a:off x="6309360" y="5751576"/>
            <a:ext cx="51207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18"/>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18"/>
          <p:cNvSpPr txBox="1"/>
          <p:nvPr/>
        </p:nvSpPr>
        <p:spPr>
          <a:xfrm>
            <a:off x="274320" y="91440"/>
            <a:ext cx="11430000" cy="49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i="0" u="none" strike="noStrike" cap="none" dirty="0">
                <a:solidFill>
                  <a:srgbClr val="FFFFFF"/>
                </a:solidFill>
                <a:latin typeface="Calibri"/>
                <a:ea typeface="Calibri"/>
                <a:cs typeface="Calibri"/>
                <a:sym typeface="Calibri"/>
              </a:rPr>
              <a:t>Dataset — PhysioNet MPS Image Database v1.0</a:t>
            </a:r>
            <a:endParaRPr dirty="0"/>
          </a:p>
        </p:txBody>
      </p:sp>
      <p:sp>
        <p:nvSpPr>
          <p:cNvPr id="212" name="Google Shape;212;p18"/>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18"/>
          <p:cNvSpPr txBox="1"/>
          <p:nvPr/>
        </p:nvSpPr>
        <p:spPr>
          <a:xfrm>
            <a:off x="182880" y="6492240"/>
            <a:ext cx="11795700" cy="307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a:p>
        </p:txBody>
      </p:sp>
      <p:pic>
        <p:nvPicPr>
          <p:cNvPr id="214" name="Google Shape;214;p18" title="anatomical_coverage_patient_1.2.840..png"/>
          <p:cNvPicPr preferRelativeResize="0"/>
          <p:nvPr/>
        </p:nvPicPr>
        <p:blipFill>
          <a:blip r:embed="rId3">
            <a:alphaModFix/>
          </a:blip>
          <a:stretch>
            <a:fillRect/>
          </a:stretch>
        </p:blipFill>
        <p:spPr>
          <a:xfrm>
            <a:off x="274325" y="1346550"/>
            <a:ext cx="10960676" cy="438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9"/>
          <p:cNvSpPr/>
          <p:nvPr/>
        </p:nvSpPr>
        <p:spPr>
          <a:xfrm>
            <a:off x="0" y="0"/>
            <a:ext cx="12188952" cy="100584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0" name="Google Shape;220;p19"/>
          <p:cNvSpPr txBox="1"/>
          <p:nvPr/>
        </p:nvSpPr>
        <p:spPr>
          <a:xfrm>
            <a:off x="274320" y="91440"/>
            <a:ext cx="11430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Calibri"/>
                <a:ea typeface="Calibri"/>
                <a:cs typeface="Calibri"/>
                <a:sym typeface="Calibri"/>
              </a:rPr>
              <a:t>Ethical Implications</a:t>
            </a:r>
            <a:endParaRPr/>
          </a:p>
        </p:txBody>
      </p:sp>
      <p:sp>
        <p:nvSpPr>
          <p:cNvPr id="221" name="Google Shape;221;p19"/>
          <p:cNvSpPr/>
          <p:nvPr/>
        </p:nvSpPr>
        <p:spPr>
          <a:xfrm>
            <a:off x="0" y="1005840"/>
            <a:ext cx="12188952" cy="5852160"/>
          </a:xfrm>
          <a:prstGeom prst="rect">
            <a:avLst/>
          </a:prstGeom>
          <a:solidFill>
            <a:srgbClr val="F2F2F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19"/>
          <p:cNvSpPr/>
          <p:nvPr/>
        </p:nvSpPr>
        <p:spPr>
          <a:xfrm>
            <a:off x="0" y="6492240"/>
            <a:ext cx="12188952" cy="3657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19"/>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sp>
        <p:nvSpPr>
          <p:cNvPr id="224" name="Google Shape;224;p19"/>
          <p:cNvSpPr/>
          <p:nvPr/>
        </p:nvSpPr>
        <p:spPr>
          <a:xfrm>
            <a:off x="274320" y="1097280"/>
            <a:ext cx="11640312" cy="1335024"/>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19"/>
          <p:cNvSpPr txBox="1"/>
          <p:nvPr/>
        </p:nvSpPr>
        <p:spPr>
          <a:xfrm>
            <a:off x="457200" y="1124712"/>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A234E"/>
                </a:solidFill>
                <a:latin typeface="Calibri"/>
                <a:ea typeface="Calibri"/>
                <a:cs typeface="Calibri"/>
                <a:sym typeface="Calibri"/>
              </a:rPr>
              <a:t>Patient Privacy</a:t>
            </a:r>
            <a:endParaRPr/>
          </a:p>
        </p:txBody>
      </p:sp>
      <p:sp>
        <p:nvSpPr>
          <p:cNvPr id="226" name="Google Shape;226;p19"/>
          <p:cNvSpPr txBox="1"/>
          <p:nvPr/>
        </p:nvSpPr>
        <p:spPr>
          <a:xfrm>
            <a:off x="548640" y="1444752"/>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dirty="0">
                <a:solidFill>
                  <a:srgbClr val="444444"/>
                </a:solidFill>
                <a:latin typeface="Calibri"/>
                <a:ea typeface="Calibri"/>
                <a:cs typeface="Calibri"/>
                <a:sym typeface="Calibri"/>
              </a:rPr>
              <a:t>• PhysioNet MPS dataset is publicly available and de-identified.</a:t>
            </a:r>
            <a:endParaRPr dirty="0"/>
          </a:p>
        </p:txBody>
      </p:sp>
      <p:sp>
        <p:nvSpPr>
          <p:cNvPr id="227" name="Google Shape;227;p19"/>
          <p:cNvSpPr txBox="1"/>
          <p:nvPr/>
        </p:nvSpPr>
        <p:spPr>
          <a:xfrm>
            <a:off x="548640" y="1783080"/>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DICOM metadata does not contain direct patient identifiers.</a:t>
            </a:r>
            <a:endParaRPr/>
          </a:p>
        </p:txBody>
      </p:sp>
      <p:sp>
        <p:nvSpPr>
          <p:cNvPr id="228" name="Google Shape;228;p19"/>
          <p:cNvSpPr txBox="1"/>
          <p:nvPr/>
        </p:nvSpPr>
        <p:spPr>
          <a:xfrm>
            <a:off x="548640" y="2121408"/>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No additional IRB approval required for use of this public repository.</a:t>
            </a:r>
            <a:endParaRPr/>
          </a:p>
        </p:txBody>
      </p:sp>
      <p:sp>
        <p:nvSpPr>
          <p:cNvPr id="229" name="Google Shape;229;p19"/>
          <p:cNvSpPr/>
          <p:nvPr/>
        </p:nvSpPr>
        <p:spPr>
          <a:xfrm>
            <a:off x="274320" y="2569463"/>
            <a:ext cx="11640312" cy="996695"/>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0" name="Google Shape;230;p19"/>
          <p:cNvSpPr txBox="1"/>
          <p:nvPr/>
        </p:nvSpPr>
        <p:spPr>
          <a:xfrm>
            <a:off x="457200" y="2596895"/>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A234E"/>
                </a:solidFill>
                <a:latin typeface="Calibri"/>
                <a:ea typeface="Calibri"/>
                <a:cs typeface="Calibri"/>
                <a:sym typeface="Calibri"/>
              </a:rPr>
              <a:t>Algorithmic Fairness</a:t>
            </a:r>
            <a:endParaRPr/>
          </a:p>
        </p:txBody>
      </p:sp>
      <p:sp>
        <p:nvSpPr>
          <p:cNvPr id="231" name="Google Shape;231;p19"/>
          <p:cNvSpPr txBox="1"/>
          <p:nvPr/>
        </p:nvSpPr>
        <p:spPr>
          <a:xfrm>
            <a:off x="548640" y="2916935"/>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Dataset demographics not disclosed — performance may vary across subpopulations.</a:t>
            </a:r>
            <a:endParaRPr/>
          </a:p>
        </p:txBody>
      </p:sp>
      <p:sp>
        <p:nvSpPr>
          <p:cNvPr id="232" name="Google Shape;232;p19"/>
          <p:cNvSpPr txBox="1"/>
          <p:nvPr/>
        </p:nvSpPr>
        <p:spPr>
          <a:xfrm>
            <a:off x="548640" y="3255263"/>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Models should be validated on diverse multi-site SPECT datasets before deployment.</a:t>
            </a:r>
            <a:endParaRPr/>
          </a:p>
        </p:txBody>
      </p:sp>
      <p:sp>
        <p:nvSpPr>
          <p:cNvPr id="233" name="Google Shape;233;p19"/>
          <p:cNvSpPr/>
          <p:nvPr/>
        </p:nvSpPr>
        <p:spPr>
          <a:xfrm>
            <a:off x="274320" y="3703320"/>
            <a:ext cx="11640312" cy="1335024"/>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4" name="Google Shape;234;p19"/>
          <p:cNvSpPr txBox="1"/>
          <p:nvPr/>
        </p:nvSpPr>
        <p:spPr>
          <a:xfrm>
            <a:off x="457200" y="3730752"/>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A234E"/>
                </a:solidFill>
                <a:latin typeface="Calibri"/>
                <a:ea typeface="Calibri"/>
                <a:cs typeface="Calibri"/>
                <a:sym typeface="Calibri"/>
              </a:rPr>
              <a:t>Clinical Safety</a:t>
            </a:r>
            <a:endParaRPr/>
          </a:p>
        </p:txBody>
      </p:sp>
      <p:sp>
        <p:nvSpPr>
          <p:cNvPr id="235" name="Google Shape;235;p19"/>
          <p:cNvSpPr txBox="1"/>
          <p:nvPr/>
        </p:nvSpPr>
        <p:spPr>
          <a:xfrm>
            <a:off x="548640" y="4050791"/>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Automated segmentation aids — not replaces — cardiologist review.</a:t>
            </a:r>
            <a:endParaRPr/>
          </a:p>
        </p:txBody>
      </p:sp>
      <p:sp>
        <p:nvSpPr>
          <p:cNvPr id="236" name="Google Shape;236;p19"/>
          <p:cNvSpPr txBox="1"/>
          <p:nvPr/>
        </p:nvSpPr>
        <p:spPr>
          <a:xfrm>
            <a:off x="548640" y="4389120"/>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DSC ≥ 0.80 is a guideline threshold; clinical sign-off remains mandatory.</a:t>
            </a:r>
            <a:endParaRPr/>
          </a:p>
        </p:txBody>
      </p:sp>
      <p:sp>
        <p:nvSpPr>
          <p:cNvPr id="237" name="Google Shape;237;p19"/>
          <p:cNvSpPr txBox="1"/>
          <p:nvPr/>
        </p:nvSpPr>
        <p:spPr>
          <a:xfrm>
            <a:off x="548640" y="4727448"/>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False negatives (missed LV tissue) carry higher clinical risk than false positives.</a:t>
            </a:r>
            <a:endParaRPr/>
          </a:p>
        </p:txBody>
      </p:sp>
      <p:sp>
        <p:nvSpPr>
          <p:cNvPr id="238" name="Google Shape;238;p19"/>
          <p:cNvSpPr/>
          <p:nvPr/>
        </p:nvSpPr>
        <p:spPr>
          <a:xfrm>
            <a:off x="274320" y="5175504"/>
            <a:ext cx="11640312" cy="996695"/>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9" name="Google Shape;239;p19"/>
          <p:cNvSpPr txBox="1"/>
          <p:nvPr/>
        </p:nvSpPr>
        <p:spPr>
          <a:xfrm>
            <a:off x="457200" y="5202936"/>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A234E"/>
                </a:solidFill>
                <a:latin typeface="Calibri"/>
                <a:ea typeface="Calibri"/>
                <a:cs typeface="Calibri"/>
                <a:sym typeface="Calibri"/>
              </a:rPr>
              <a:t>Reproducibility</a:t>
            </a:r>
            <a:endParaRPr/>
          </a:p>
        </p:txBody>
      </p:sp>
      <p:sp>
        <p:nvSpPr>
          <p:cNvPr id="240" name="Google Shape;240;p19"/>
          <p:cNvSpPr txBox="1"/>
          <p:nvPr/>
        </p:nvSpPr>
        <p:spPr>
          <a:xfrm>
            <a:off x="548640" y="5522976"/>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All code, model architectures, and hyperparameters are fully disclosed.</a:t>
            </a:r>
            <a:endParaRPr/>
          </a:p>
        </p:txBody>
      </p:sp>
      <p:sp>
        <p:nvSpPr>
          <p:cNvPr id="241" name="Google Shape;241;p19"/>
          <p:cNvSpPr txBox="1"/>
          <p:nvPr/>
        </p:nvSpPr>
        <p:spPr>
          <a:xfrm>
            <a:off x="548640" y="5861304"/>
            <a:ext cx="1124712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444444"/>
                </a:solidFill>
                <a:latin typeface="Calibri"/>
                <a:ea typeface="Calibri"/>
                <a:cs typeface="Calibri"/>
                <a:sym typeface="Calibri"/>
              </a:rPr>
              <a:t>• Publicly available dataset ensures independent replication.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0"/>
          <p:cNvSpPr/>
          <p:nvPr/>
        </p:nvSpPr>
        <p:spPr>
          <a:xfrm>
            <a:off x="0" y="0"/>
            <a:ext cx="12188952" cy="100584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7" name="Google Shape;247;p20"/>
          <p:cNvSpPr txBox="1"/>
          <p:nvPr/>
        </p:nvSpPr>
        <p:spPr>
          <a:xfrm>
            <a:off x="274320" y="91440"/>
            <a:ext cx="11430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a:solidFill>
                  <a:srgbClr val="FFFFFF"/>
                </a:solidFill>
                <a:latin typeface="Calibri"/>
                <a:ea typeface="Calibri"/>
                <a:cs typeface="Calibri"/>
                <a:sym typeface="Calibri"/>
              </a:rPr>
              <a:t>Exploratory Data Analysis (EDA)</a:t>
            </a:r>
            <a:endParaRPr/>
          </a:p>
        </p:txBody>
      </p:sp>
      <p:sp>
        <p:nvSpPr>
          <p:cNvPr id="248" name="Google Shape;248;p20"/>
          <p:cNvSpPr/>
          <p:nvPr/>
        </p:nvSpPr>
        <p:spPr>
          <a:xfrm>
            <a:off x="0" y="1005840"/>
            <a:ext cx="12188952" cy="5852160"/>
          </a:xfrm>
          <a:prstGeom prst="rect">
            <a:avLst/>
          </a:prstGeom>
          <a:solidFill>
            <a:srgbClr val="F2F2F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9" name="Google Shape;249;p20"/>
          <p:cNvSpPr/>
          <p:nvPr/>
        </p:nvSpPr>
        <p:spPr>
          <a:xfrm>
            <a:off x="0" y="6492240"/>
            <a:ext cx="12188952" cy="3657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0" name="Google Shape;250;p20"/>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sp>
        <p:nvSpPr>
          <p:cNvPr id="251" name="Google Shape;251;p20"/>
          <p:cNvSpPr/>
          <p:nvPr/>
        </p:nvSpPr>
        <p:spPr>
          <a:xfrm>
            <a:off x="274320" y="1143000"/>
            <a:ext cx="3749039" cy="1737360"/>
          </a:xfrm>
          <a:prstGeom prst="rect">
            <a:avLst/>
          </a:prstGeom>
          <a:solidFill>
            <a:srgbClr val="008B8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0"/>
          <p:cNvSpPr txBox="1"/>
          <p:nvPr/>
        </p:nvSpPr>
        <p:spPr>
          <a:xfrm>
            <a:off x="274320" y="1280160"/>
            <a:ext cx="3749039" cy="8229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a:solidFill>
                  <a:srgbClr val="FFFFFF"/>
                </a:solidFill>
                <a:latin typeface="Calibri"/>
                <a:ea typeface="Calibri"/>
                <a:cs typeface="Calibri"/>
                <a:sym typeface="Calibri"/>
              </a:rPr>
              <a:t>96</a:t>
            </a:r>
            <a:endParaRPr/>
          </a:p>
        </p:txBody>
      </p:sp>
      <p:sp>
        <p:nvSpPr>
          <p:cNvPr id="253" name="Google Shape;253;p20"/>
          <p:cNvSpPr txBox="1"/>
          <p:nvPr/>
        </p:nvSpPr>
        <p:spPr>
          <a:xfrm>
            <a:off x="274320" y="2057400"/>
            <a:ext cx="3749039"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0" i="0" u="none" strike="noStrike" cap="none">
                <a:solidFill>
                  <a:srgbClr val="FFFFFF"/>
                </a:solidFill>
                <a:latin typeface="Calibri"/>
                <a:ea typeface="Calibri"/>
                <a:cs typeface="Calibri"/>
                <a:sym typeface="Calibri"/>
              </a:rPr>
              <a:t>Usable Patients</a:t>
            </a:r>
            <a:endParaRPr/>
          </a:p>
        </p:txBody>
      </p:sp>
      <p:sp>
        <p:nvSpPr>
          <p:cNvPr id="254" name="Google Shape;254;p20"/>
          <p:cNvSpPr/>
          <p:nvPr/>
        </p:nvSpPr>
        <p:spPr>
          <a:xfrm>
            <a:off x="4160520" y="1143000"/>
            <a:ext cx="3749039" cy="17373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5" name="Google Shape;255;p20"/>
          <p:cNvSpPr txBox="1"/>
          <p:nvPr/>
        </p:nvSpPr>
        <p:spPr>
          <a:xfrm>
            <a:off x="4160520" y="1280160"/>
            <a:ext cx="3749039" cy="8229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a:solidFill>
                  <a:srgbClr val="FFFFFF"/>
                </a:solidFill>
                <a:latin typeface="Calibri"/>
                <a:ea typeface="Calibri"/>
                <a:cs typeface="Calibri"/>
                <a:sym typeface="Calibri"/>
              </a:rPr>
              <a:t>70×70</a:t>
            </a:r>
            <a:endParaRPr/>
          </a:p>
        </p:txBody>
      </p:sp>
      <p:sp>
        <p:nvSpPr>
          <p:cNvPr id="256" name="Google Shape;256;p20"/>
          <p:cNvSpPr txBox="1"/>
          <p:nvPr/>
        </p:nvSpPr>
        <p:spPr>
          <a:xfrm>
            <a:off x="4160520" y="2057400"/>
            <a:ext cx="3749039"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0" i="0" u="none" strike="noStrike" cap="none">
                <a:solidFill>
                  <a:srgbClr val="FFFFFF"/>
                </a:solidFill>
                <a:latin typeface="Calibri"/>
                <a:ea typeface="Calibri"/>
                <a:cs typeface="Calibri"/>
                <a:sym typeface="Calibri"/>
              </a:rPr>
              <a:t>Native Resolution</a:t>
            </a:r>
            <a:br>
              <a:rPr lang="en-US" sz="1300" b="0" i="0" u="none" strike="noStrike" cap="none">
                <a:solidFill>
                  <a:srgbClr val="FFFFFF"/>
                </a:solidFill>
                <a:latin typeface="Calibri"/>
                <a:ea typeface="Calibri"/>
                <a:cs typeface="Calibri"/>
                <a:sym typeface="Calibri"/>
              </a:rPr>
            </a:br>
            <a:r>
              <a:rPr lang="en-US" sz="1300" b="0" i="0" u="none" strike="noStrike" cap="none">
                <a:solidFill>
                  <a:srgbClr val="FFFFFF"/>
                </a:solidFill>
                <a:latin typeface="Calibri"/>
                <a:ea typeface="Calibri"/>
                <a:cs typeface="Calibri"/>
                <a:sym typeface="Calibri"/>
              </a:rPr>
              <a:t>(no resizing)</a:t>
            </a:r>
            <a:endParaRPr/>
          </a:p>
        </p:txBody>
      </p:sp>
      <p:sp>
        <p:nvSpPr>
          <p:cNvPr id="257" name="Google Shape;257;p20"/>
          <p:cNvSpPr/>
          <p:nvPr/>
        </p:nvSpPr>
        <p:spPr>
          <a:xfrm>
            <a:off x="8046720" y="1143000"/>
            <a:ext cx="3749039" cy="1737360"/>
          </a:xfrm>
          <a:prstGeom prst="rect">
            <a:avLst/>
          </a:prstGeom>
          <a:solidFill>
            <a:srgbClr val="CC3333"/>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20"/>
          <p:cNvSpPr txBox="1"/>
          <p:nvPr/>
        </p:nvSpPr>
        <p:spPr>
          <a:xfrm>
            <a:off x="8046720" y="1280160"/>
            <a:ext cx="3749039" cy="8229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a:solidFill>
                  <a:srgbClr val="FFFFFF"/>
                </a:solidFill>
                <a:latin typeface="Calibri"/>
                <a:ea typeface="Calibri"/>
                <a:cs typeface="Calibri"/>
                <a:sym typeface="Calibri"/>
              </a:rPr>
              <a:t>3</a:t>
            </a:r>
            <a:endParaRPr/>
          </a:p>
        </p:txBody>
      </p:sp>
      <p:sp>
        <p:nvSpPr>
          <p:cNvPr id="259" name="Google Shape;259;p20"/>
          <p:cNvSpPr txBox="1"/>
          <p:nvPr/>
        </p:nvSpPr>
        <p:spPr>
          <a:xfrm>
            <a:off x="8046720" y="2057400"/>
            <a:ext cx="3749039"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0" i="0" u="none" strike="noStrike" cap="none">
                <a:solidFill>
                  <a:srgbClr val="FFFFFF"/>
                </a:solidFill>
                <a:latin typeface="Calibri"/>
                <a:ea typeface="Calibri"/>
                <a:cs typeface="Calibri"/>
                <a:sym typeface="Calibri"/>
              </a:rPr>
              <a:t>Excluded</a:t>
            </a:r>
            <a:br>
              <a:rPr lang="en-US" sz="1300" b="0" i="0" u="none" strike="noStrike" cap="none">
                <a:solidFill>
                  <a:srgbClr val="FFFFFF"/>
                </a:solidFill>
                <a:latin typeface="Calibri"/>
                <a:ea typeface="Calibri"/>
                <a:cs typeface="Calibri"/>
                <a:sym typeface="Calibri"/>
              </a:rPr>
            </a:br>
            <a:r>
              <a:rPr lang="en-US" sz="1300" b="0" i="0" u="none" strike="noStrike" cap="none">
                <a:solidFill>
                  <a:srgbClr val="FFFFFF"/>
                </a:solidFill>
                <a:latin typeface="Calibri"/>
                <a:ea typeface="Calibri"/>
                <a:cs typeface="Calibri"/>
                <a:sym typeface="Calibri"/>
              </a:rPr>
              <a:t>(BAD_UIDs)</a:t>
            </a:r>
            <a:endParaRPr/>
          </a:p>
        </p:txBody>
      </p:sp>
      <p:sp>
        <p:nvSpPr>
          <p:cNvPr id="260" name="Google Shape;260;p20"/>
          <p:cNvSpPr/>
          <p:nvPr/>
        </p:nvSpPr>
        <p:spPr>
          <a:xfrm>
            <a:off x="274320" y="3154680"/>
            <a:ext cx="3749039" cy="1737360"/>
          </a:xfrm>
          <a:prstGeom prst="rect">
            <a:avLst/>
          </a:prstGeom>
          <a:solidFill>
            <a:srgbClr val="008B45"/>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1" name="Google Shape;261;p20"/>
          <p:cNvSpPr txBox="1"/>
          <p:nvPr/>
        </p:nvSpPr>
        <p:spPr>
          <a:xfrm>
            <a:off x="274320" y="3291840"/>
            <a:ext cx="3749039" cy="8229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a:solidFill>
                  <a:srgbClr val="FFFFFF"/>
                </a:solidFill>
                <a:latin typeface="Calibri"/>
                <a:ea typeface="Calibri"/>
                <a:cs typeface="Calibri"/>
                <a:sym typeface="Calibri"/>
              </a:rPr>
              <a:t>68 / 14 / 14</a:t>
            </a:r>
            <a:endParaRPr/>
          </a:p>
        </p:txBody>
      </p:sp>
      <p:sp>
        <p:nvSpPr>
          <p:cNvPr id="262" name="Google Shape;262;p20"/>
          <p:cNvSpPr txBox="1"/>
          <p:nvPr/>
        </p:nvSpPr>
        <p:spPr>
          <a:xfrm>
            <a:off x="274320" y="4069080"/>
            <a:ext cx="3749039"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0" i="0" u="none" strike="noStrike" cap="none">
                <a:solidFill>
                  <a:srgbClr val="FFFFFF"/>
                </a:solidFill>
                <a:latin typeface="Calibri"/>
                <a:ea typeface="Calibri"/>
                <a:cs typeface="Calibri"/>
                <a:sym typeface="Calibri"/>
              </a:rPr>
              <a:t>Train / Val / Test</a:t>
            </a:r>
            <a:br>
              <a:rPr lang="en-US" sz="1300" b="0" i="0" u="none" strike="noStrike" cap="none">
                <a:solidFill>
                  <a:srgbClr val="FFFFFF"/>
                </a:solidFill>
                <a:latin typeface="Calibri"/>
                <a:ea typeface="Calibri"/>
                <a:cs typeface="Calibri"/>
                <a:sym typeface="Calibri"/>
              </a:rPr>
            </a:br>
            <a:r>
              <a:rPr lang="en-US" sz="1300" b="0" i="0" u="none" strike="noStrike" cap="none">
                <a:solidFill>
                  <a:srgbClr val="FFFFFF"/>
                </a:solidFill>
                <a:latin typeface="Calibri"/>
                <a:ea typeface="Calibri"/>
                <a:cs typeface="Calibri"/>
                <a:sym typeface="Calibri"/>
              </a:rPr>
              <a:t>(patient-level)</a:t>
            </a:r>
            <a:endParaRPr/>
          </a:p>
        </p:txBody>
      </p:sp>
      <p:sp>
        <p:nvSpPr>
          <p:cNvPr id="263" name="Google Shape;263;p20"/>
          <p:cNvSpPr/>
          <p:nvPr/>
        </p:nvSpPr>
        <p:spPr>
          <a:xfrm>
            <a:off x="4160520" y="3154680"/>
            <a:ext cx="3749039" cy="1737360"/>
          </a:xfrm>
          <a:prstGeom prst="rect">
            <a:avLst/>
          </a:prstGeom>
          <a:solidFill>
            <a:srgbClr val="008B8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4" name="Google Shape;264;p20"/>
          <p:cNvSpPr txBox="1"/>
          <p:nvPr/>
        </p:nvSpPr>
        <p:spPr>
          <a:xfrm>
            <a:off x="4160520" y="3291840"/>
            <a:ext cx="3749039" cy="8229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dirty="0">
                <a:solidFill>
                  <a:srgbClr val="FFFFFF"/>
                </a:solidFill>
                <a:latin typeface="Calibri"/>
                <a:ea typeface="Calibri"/>
                <a:cs typeface="Calibri"/>
                <a:sym typeface="Calibri"/>
              </a:rPr>
              <a:t>≥ 10 px</a:t>
            </a:r>
            <a:endParaRPr dirty="0"/>
          </a:p>
        </p:txBody>
      </p:sp>
      <p:sp>
        <p:nvSpPr>
          <p:cNvPr id="265" name="Google Shape;265;p20"/>
          <p:cNvSpPr txBox="1"/>
          <p:nvPr/>
        </p:nvSpPr>
        <p:spPr>
          <a:xfrm>
            <a:off x="4160520" y="4069080"/>
            <a:ext cx="3749039"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0" i="0" u="none" strike="noStrike" cap="none">
                <a:solidFill>
                  <a:srgbClr val="FFFFFF"/>
                </a:solidFill>
                <a:latin typeface="Calibri"/>
                <a:ea typeface="Calibri"/>
                <a:cs typeface="Calibri"/>
                <a:sym typeface="Calibri"/>
              </a:rPr>
              <a:t>Min foreground</a:t>
            </a:r>
            <a:br>
              <a:rPr lang="en-US" sz="1300" b="0" i="0" u="none" strike="noStrike" cap="none">
                <a:solidFill>
                  <a:srgbClr val="FFFFFF"/>
                </a:solidFill>
                <a:latin typeface="Calibri"/>
                <a:ea typeface="Calibri"/>
                <a:cs typeface="Calibri"/>
                <a:sym typeface="Calibri"/>
              </a:rPr>
            </a:br>
            <a:r>
              <a:rPr lang="en-US" sz="1300" b="0" i="0" u="none" strike="noStrike" cap="none">
                <a:solidFill>
                  <a:srgbClr val="FFFFFF"/>
                </a:solidFill>
                <a:latin typeface="Calibri"/>
                <a:ea typeface="Calibri"/>
                <a:cs typeface="Calibri"/>
                <a:sym typeface="Calibri"/>
              </a:rPr>
              <a:t>pixels per slice</a:t>
            </a:r>
            <a:endParaRPr/>
          </a:p>
        </p:txBody>
      </p:sp>
      <p:sp>
        <p:nvSpPr>
          <p:cNvPr id="266" name="Google Shape;266;p20"/>
          <p:cNvSpPr/>
          <p:nvPr/>
        </p:nvSpPr>
        <p:spPr>
          <a:xfrm>
            <a:off x="8046720" y="3154680"/>
            <a:ext cx="3749039" cy="17373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7" name="Google Shape;267;p20"/>
          <p:cNvSpPr txBox="1"/>
          <p:nvPr/>
        </p:nvSpPr>
        <p:spPr>
          <a:xfrm>
            <a:off x="8046720" y="3291840"/>
            <a:ext cx="3749039" cy="8229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i="0" u="none" strike="noStrike" cap="none">
                <a:solidFill>
                  <a:srgbClr val="FFFFFF"/>
                </a:solidFill>
                <a:latin typeface="Calibri"/>
                <a:ea typeface="Calibri"/>
                <a:cs typeface="Calibri"/>
                <a:sym typeface="Calibri"/>
              </a:rPr>
              <a:t>5</a:t>
            </a:r>
            <a:endParaRPr/>
          </a:p>
        </p:txBody>
      </p:sp>
      <p:sp>
        <p:nvSpPr>
          <p:cNvPr id="268" name="Google Shape;268;p20"/>
          <p:cNvSpPr txBox="1"/>
          <p:nvPr/>
        </p:nvSpPr>
        <p:spPr>
          <a:xfrm>
            <a:off x="8046720" y="4069080"/>
            <a:ext cx="3749039"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0" i="0" u="none" strike="noStrike" cap="none">
                <a:solidFill>
                  <a:srgbClr val="FFFFFF"/>
                </a:solidFill>
                <a:latin typeface="Calibri"/>
                <a:ea typeface="Calibri"/>
                <a:cs typeface="Calibri"/>
                <a:sym typeface="Calibri"/>
              </a:rPr>
              <a:t>Augmentation</a:t>
            </a:r>
            <a:br>
              <a:rPr lang="en-US" sz="1300" b="0" i="0" u="none" strike="noStrike" cap="none">
                <a:solidFill>
                  <a:srgbClr val="FFFFFF"/>
                </a:solidFill>
                <a:latin typeface="Calibri"/>
                <a:ea typeface="Calibri"/>
                <a:cs typeface="Calibri"/>
                <a:sym typeface="Calibri"/>
              </a:rPr>
            </a:br>
            <a:r>
              <a:rPr lang="en-US" sz="1300" b="0" i="0" u="none" strike="noStrike" cap="none">
                <a:solidFill>
                  <a:srgbClr val="FFFFFF"/>
                </a:solidFill>
                <a:latin typeface="Calibri"/>
                <a:ea typeface="Calibri"/>
                <a:cs typeface="Calibri"/>
                <a:sym typeface="Calibri"/>
              </a:rPr>
              <a:t>transforms @ p=0.5</a:t>
            </a:r>
            <a:endParaRPr/>
          </a:p>
        </p:txBody>
      </p:sp>
      <p:sp>
        <p:nvSpPr>
          <p:cNvPr id="269" name="Google Shape;269;p20"/>
          <p:cNvSpPr txBox="1"/>
          <p:nvPr/>
        </p:nvSpPr>
        <p:spPr>
          <a:xfrm>
            <a:off x="274320" y="5166360"/>
            <a:ext cx="11640312"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0" i="0" u="none" strike="noStrike" cap="none">
                <a:solidFill>
                  <a:srgbClr val="444444"/>
                </a:solidFill>
                <a:latin typeface="Calibri"/>
                <a:ea typeface="Calibri"/>
                <a:cs typeface="Calibri"/>
                <a:sym typeface="Calibri"/>
              </a:rPr>
              <a:t>Key observation: SPECT images are low-resolution (70×70) and exhibit tracer uptake in adjacent organs (liver, bowel) that can bleed into the LV boundary — making precise delineation non-trivial.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1"/>
          <p:cNvSpPr/>
          <p:nvPr/>
        </p:nvSpPr>
        <p:spPr>
          <a:xfrm>
            <a:off x="0" y="0"/>
            <a:ext cx="12188952" cy="100584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21"/>
          <p:cNvSpPr txBox="1"/>
          <p:nvPr/>
        </p:nvSpPr>
        <p:spPr>
          <a:xfrm>
            <a:off x="274320" y="91440"/>
            <a:ext cx="11430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Calibri"/>
                <a:ea typeface="Calibri"/>
                <a:cs typeface="Calibri"/>
                <a:sym typeface="Calibri"/>
              </a:rPr>
              <a:t>Pre-processing Pipeline</a:t>
            </a:r>
            <a:endParaRPr/>
          </a:p>
        </p:txBody>
      </p:sp>
      <p:sp>
        <p:nvSpPr>
          <p:cNvPr id="276" name="Google Shape;276;p21"/>
          <p:cNvSpPr/>
          <p:nvPr/>
        </p:nvSpPr>
        <p:spPr>
          <a:xfrm>
            <a:off x="0" y="1031718"/>
            <a:ext cx="12188952" cy="5852160"/>
          </a:xfrm>
          <a:prstGeom prst="rect">
            <a:avLst/>
          </a:prstGeom>
          <a:solidFill>
            <a:srgbClr val="F2F2F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7" name="Google Shape;277;p21"/>
          <p:cNvSpPr/>
          <p:nvPr/>
        </p:nvSpPr>
        <p:spPr>
          <a:xfrm>
            <a:off x="0" y="6492240"/>
            <a:ext cx="12188952" cy="3657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8" name="Google Shape;278;p21"/>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sp>
        <p:nvSpPr>
          <p:cNvPr id="279" name="Google Shape;279;p21"/>
          <p:cNvSpPr/>
          <p:nvPr/>
        </p:nvSpPr>
        <p:spPr>
          <a:xfrm>
            <a:off x="274320" y="1097280"/>
            <a:ext cx="502920" cy="685800"/>
          </a:xfrm>
          <a:prstGeom prst="rect">
            <a:avLst/>
          </a:prstGeom>
          <a:solidFill>
            <a:srgbClr val="008B8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0" name="Google Shape;280;p21"/>
          <p:cNvSpPr txBox="1"/>
          <p:nvPr/>
        </p:nvSpPr>
        <p:spPr>
          <a:xfrm>
            <a:off x="274320" y="1097280"/>
            <a:ext cx="502920"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FFFFFF"/>
                </a:solidFill>
                <a:latin typeface="Calibri"/>
                <a:ea typeface="Calibri"/>
                <a:cs typeface="Calibri"/>
                <a:sym typeface="Calibri"/>
              </a:rPr>
              <a:t>1</a:t>
            </a:r>
            <a:endParaRPr/>
          </a:p>
        </p:txBody>
      </p:sp>
      <p:sp>
        <p:nvSpPr>
          <p:cNvPr id="281" name="Google Shape;281;p21"/>
          <p:cNvSpPr/>
          <p:nvPr/>
        </p:nvSpPr>
        <p:spPr>
          <a:xfrm>
            <a:off x="822960" y="1097280"/>
            <a:ext cx="11064240" cy="685800"/>
          </a:xfrm>
          <a:prstGeom prst="rect">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2" name="Google Shape;282;p21"/>
          <p:cNvSpPr txBox="1"/>
          <p:nvPr/>
        </p:nvSpPr>
        <p:spPr>
          <a:xfrm>
            <a:off x="914400" y="1115568"/>
            <a:ext cx="27432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a:solidFill>
                  <a:srgbClr val="1A234E"/>
                </a:solidFill>
                <a:latin typeface="Calibri"/>
                <a:ea typeface="Calibri"/>
                <a:cs typeface="Calibri"/>
                <a:sym typeface="Calibri"/>
              </a:rPr>
              <a:t>DICOM Loading</a:t>
            </a:r>
            <a:endParaRPr/>
          </a:p>
        </p:txBody>
      </p:sp>
      <p:sp>
        <p:nvSpPr>
          <p:cNvPr id="283" name="Google Shape;283;p21"/>
          <p:cNvSpPr txBox="1"/>
          <p:nvPr/>
        </p:nvSpPr>
        <p:spPr>
          <a:xfrm>
            <a:off x="914400" y="1435607"/>
            <a:ext cx="109728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All DICOM frames per study loaded via pydicom. Pixel arrays stacked into 3D volumes (z, y, x).</a:t>
            </a:r>
            <a:endParaRPr/>
          </a:p>
        </p:txBody>
      </p:sp>
      <p:sp>
        <p:nvSpPr>
          <p:cNvPr id="284" name="Google Shape;284;p21"/>
          <p:cNvSpPr/>
          <p:nvPr/>
        </p:nvSpPr>
        <p:spPr>
          <a:xfrm>
            <a:off x="274320" y="1892807"/>
            <a:ext cx="502920" cy="685800"/>
          </a:xfrm>
          <a:prstGeom prst="rect">
            <a:avLst/>
          </a:prstGeom>
          <a:solidFill>
            <a:srgbClr val="008B8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1"/>
          <p:cNvSpPr txBox="1"/>
          <p:nvPr/>
        </p:nvSpPr>
        <p:spPr>
          <a:xfrm>
            <a:off x="274320" y="1892807"/>
            <a:ext cx="502920"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FFFFFF"/>
                </a:solidFill>
                <a:latin typeface="Calibri"/>
                <a:ea typeface="Calibri"/>
                <a:cs typeface="Calibri"/>
                <a:sym typeface="Calibri"/>
              </a:rPr>
              <a:t>2</a:t>
            </a:r>
            <a:endParaRPr/>
          </a:p>
        </p:txBody>
      </p:sp>
      <p:sp>
        <p:nvSpPr>
          <p:cNvPr id="286" name="Google Shape;286;p21"/>
          <p:cNvSpPr/>
          <p:nvPr/>
        </p:nvSpPr>
        <p:spPr>
          <a:xfrm>
            <a:off x="822960" y="1892807"/>
            <a:ext cx="11064240" cy="685800"/>
          </a:xfrm>
          <a:prstGeom prst="rect">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1"/>
          <p:cNvSpPr txBox="1"/>
          <p:nvPr/>
        </p:nvSpPr>
        <p:spPr>
          <a:xfrm>
            <a:off x="914400" y="1911095"/>
            <a:ext cx="27432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dirty="0">
                <a:solidFill>
                  <a:srgbClr val="1A234E"/>
                </a:solidFill>
                <a:latin typeface="Calibri"/>
                <a:ea typeface="Calibri"/>
                <a:cs typeface="Calibri"/>
                <a:sym typeface="Calibri"/>
              </a:rPr>
              <a:t>NIfTI Mask Alignment</a:t>
            </a:r>
            <a:endParaRPr dirty="0"/>
          </a:p>
        </p:txBody>
      </p:sp>
      <p:sp>
        <p:nvSpPr>
          <p:cNvPr id="288" name="Google Shape;288;p21"/>
          <p:cNvSpPr txBox="1"/>
          <p:nvPr/>
        </p:nvSpPr>
        <p:spPr>
          <a:xfrm>
            <a:off x="914400" y="2231136"/>
            <a:ext cx="109728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Ground-truth masks loaded via nibabel. Transposed to (z, y, x) to match DICOM orientation.</a:t>
            </a:r>
            <a:endParaRPr/>
          </a:p>
        </p:txBody>
      </p:sp>
      <p:sp>
        <p:nvSpPr>
          <p:cNvPr id="289" name="Google Shape;289;p21"/>
          <p:cNvSpPr/>
          <p:nvPr/>
        </p:nvSpPr>
        <p:spPr>
          <a:xfrm>
            <a:off x="274320" y="2688336"/>
            <a:ext cx="502920" cy="685800"/>
          </a:xfrm>
          <a:prstGeom prst="rect">
            <a:avLst/>
          </a:prstGeom>
          <a:solidFill>
            <a:srgbClr val="008B8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0" name="Google Shape;290;p21"/>
          <p:cNvSpPr txBox="1"/>
          <p:nvPr/>
        </p:nvSpPr>
        <p:spPr>
          <a:xfrm>
            <a:off x="274320" y="2688336"/>
            <a:ext cx="502920"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FFFFFF"/>
                </a:solidFill>
                <a:latin typeface="Calibri"/>
                <a:ea typeface="Calibri"/>
                <a:cs typeface="Calibri"/>
                <a:sym typeface="Calibri"/>
              </a:rPr>
              <a:t>3</a:t>
            </a:r>
            <a:endParaRPr/>
          </a:p>
        </p:txBody>
      </p:sp>
      <p:sp>
        <p:nvSpPr>
          <p:cNvPr id="291" name="Google Shape;291;p21"/>
          <p:cNvSpPr/>
          <p:nvPr/>
        </p:nvSpPr>
        <p:spPr>
          <a:xfrm>
            <a:off x="822960" y="2688336"/>
            <a:ext cx="11064240" cy="685800"/>
          </a:xfrm>
          <a:prstGeom prst="rect">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2" name="Google Shape;292;p21"/>
          <p:cNvSpPr txBox="1"/>
          <p:nvPr/>
        </p:nvSpPr>
        <p:spPr>
          <a:xfrm>
            <a:off x="914400" y="2706624"/>
            <a:ext cx="27432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a:solidFill>
                  <a:srgbClr val="1A234E"/>
                </a:solidFill>
                <a:latin typeface="Calibri"/>
                <a:ea typeface="Calibri"/>
                <a:cs typeface="Calibri"/>
                <a:sym typeface="Calibri"/>
              </a:rPr>
              <a:t>Slice Filtering</a:t>
            </a:r>
            <a:endParaRPr/>
          </a:p>
        </p:txBody>
      </p:sp>
      <p:sp>
        <p:nvSpPr>
          <p:cNvPr id="293" name="Google Shape;293;p21"/>
          <p:cNvSpPr txBox="1"/>
          <p:nvPr/>
        </p:nvSpPr>
        <p:spPr>
          <a:xfrm>
            <a:off x="914400" y="3026664"/>
            <a:ext cx="109728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Only slices with ≥ 10 foreground LV pixels retained (min_mask_pixels = 10). Eliminates near-empty frames.</a:t>
            </a:r>
            <a:endParaRPr/>
          </a:p>
        </p:txBody>
      </p:sp>
      <p:sp>
        <p:nvSpPr>
          <p:cNvPr id="294" name="Google Shape;294;p21"/>
          <p:cNvSpPr/>
          <p:nvPr/>
        </p:nvSpPr>
        <p:spPr>
          <a:xfrm>
            <a:off x="274320" y="3483864"/>
            <a:ext cx="502920" cy="685800"/>
          </a:xfrm>
          <a:prstGeom prst="rect">
            <a:avLst/>
          </a:prstGeom>
          <a:solidFill>
            <a:srgbClr val="008B8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5" name="Google Shape;295;p21"/>
          <p:cNvSpPr txBox="1"/>
          <p:nvPr/>
        </p:nvSpPr>
        <p:spPr>
          <a:xfrm>
            <a:off x="274320" y="3483864"/>
            <a:ext cx="502920"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FFFFFF"/>
                </a:solidFill>
                <a:latin typeface="Calibri"/>
                <a:ea typeface="Calibri"/>
                <a:cs typeface="Calibri"/>
                <a:sym typeface="Calibri"/>
              </a:rPr>
              <a:t>4</a:t>
            </a:r>
            <a:endParaRPr/>
          </a:p>
        </p:txBody>
      </p:sp>
      <p:sp>
        <p:nvSpPr>
          <p:cNvPr id="296" name="Google Shape;296;p21"/>
          <p:cNvSpPr/>
          <p:nvPr/>
        </p:nvSpPr>
        <p:spPr>
          <a:xfrm>
            <a:off x="822960" y="3483864"/>
            <a:ext cx="11064240" cy="685800"/>
          </a:xfrm>
          <a:prstGeom prst="rect">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7" name="Google Shape;297;p21"/>
          <p:cNvSpPr txBox="1"/>
          <p:nvPr/>
        </p:nvSpPr>
        <p:spPr>
          <a:xfrm>
            <a:off x="914400" y="3502152"/>
            <a:ext cx="27432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a:solidFill>
                  <a:srgbClr val="1A234E"/>
                </a:solidFill>
                <a:latin typeface="Calibri"/>
                <a:ea typeface="Calibri"/>
                <a:cs typeface="Calibri"/>
                <a:sym typeface="Calibri"/>
              </a:rPr>
              <a:t>Intensity Normalisation</a:t>
            </a:r>
            <a:endParaRPr/>
          </a:p>
        </p:txBody>
      </p:sp>
      <p:sp>
        <p:nvSpPr>
          <p:cNvPr id="298" name="Google Shape;298;p21"/>
          <p:cNvSpPr txBox="1"/>
          <p:nvPr/>
        </p:nvSpPr>
        <p:spPr>
          <a:xfrm>
            <a:off x="914400" y="3822191"/>
            <a:ext cx="109728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Volume-level min-max normalisation to [0, 1] using v_min and v_max computed per 3D volume.</a:t>
            </a:r>
            <a:endParaRPr/>
          </a:p>
        </p:txBody>
      </p:sp>
      <p:sp>
        <p:nvSpPr>
          <p:cNvPr id="299" name="Google Shape;299;p21"/>
          <p:cNvSpPr/>
          <p:nvPr/>
        </p:nvSpPr>
        <p:spPr>
          <a:xfrm>
            <a:off x="274320" y="4279392"/>
            <a:ext cx="502920" cy="685800"/>
          </a:xfrm>
          <a:prstGeom prst="rect">
            <a:avLst/>
          </a:prstGeom>
          <a:solidFill>
            <a:srgbClr val="008B8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0" name="Google Shape;300;p21"/>
          <p:cNvSpPr txBox="1"/>
          <p:nvPr/>
        </p:nvSpPr>
        <p:spPr>
          <a:xfrm>
            <a:off x="274320" y="4279392"/>
            <a:ext cx="502920"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FFFFFF"/>
                </a:solidFill>
                <a:latin typeface="Calibri"/>
                <a:ea typeface="Calibri"/>
                <a:cs typeface="Calibri"/>
                <a:sym typeface="Calibri"/>
              </a:rPr>
              <a:t>5</a:t>
            </a:r>
            <a:endParaRPr/>
          </a:p>
        </p:txBody>
      </p:sp>
      <p:sp>
        <p:nvSpPr>
          <p:cNvPr id="301" name="Google Shape;301;p21"/>
          <p:cNvSpPr/>
          <p:nvPr/>
        </p:nvSpPr>
        <p:spPr>
          <a:xfrm>
            <a:off x="822960" y="4279392"/>
            <a:ext cx="11064240" cy="685800"/>
          </a:xfrm>
          <a:prstGeom prst="rect">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2" name="Google Shape;302;p21"/>
          <p:cNvSpPr txBox="1"/>
          <p:nvPr/>
        </p:nvSpPr>
        <p:spPr>
          <a:xfrm>
            <a:off x="914400" y="4297679"/>
            <a:ext cx="27432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a:solidFill>
                  <a:srgbClr val="1A234E"/>
                </a:solidFill>
                <a:latin typeface="Calibri"/>
                <a:ea typeface="Calibri"/>
                <a:cs typeface="Calibri"/>
                <a:sym typeface="Calibri"/>
              </a:rPr>
              <a:t>Mask Binarisation</a:t>
            </a:r>
            <a:endParaRPr/>
          </a:p>
        </p:txBody>
      </p:sp>
      <p:sp>
        <p:nvSpPr>
          <p:cNvPr id="303" name="Google Shape;303;p21"/>
          <p:cNvSpPr txBox="1"/>
          <p:nvPr/>
        </p:nvSpPr>
        <p:spPr>
          <a:xfrm>
            <a:off x="914400" y="4617720"/>
            <a:ext cx="109728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Mask values thresholded at 0.5 → binary {0, 1} segmentation targets.</a:t>
            </a:r>
            <a:endParaRPr/>
          </a:p>
        </p:txBody>
      </p:sp>
      <p:sp>
        <p:nvSpPr>
          <p:cNvPr id="304" name="Google Shape;304;p21"/>
          <p:cNvSpPr/>
          <p:nvPr/>
        </p:nvSpPr>
        <p:spPr>
          <a:xfrm>
            <a:off x="274320" y="5074920"/>
            <a:ext cx="502920" cy="685800"/>
          </a:xfrm>
          <a:prstGeom prst="rect">
            <a:avLst/>
          </a:prstGeom>
          <a:solidFill>
            <a:srgbClr val="008B8B"/>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5" name="Google Shape;305;p21"/>
          <p:cNvSpPr txBox="1"/>
          <p:nvPr/>
        </p:nvSpPr>
        <p:spPr>
          <a:xfrm>
            <a:off x="274320" y="5074920"/>
            <a:ext cx="502920" cy="685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FFFFFF"/>
                </a:solidFill>
                <a:latin typeface="Calibri"/>
                <a:ea typeface="Calibri"/>
                <a:cs typeface="Calibri"/>
                <a:sym typeface="Calibri"/>
              </a:rPr>
              <a:t>6</a:t>
            </a:r>
            <a:endParaRPr/>
          </a:p>
        </p:txBody>
      </p:sp>
      <p:sp>
        <p:nvSpPr>
          <p:cNvPr id="306" name="Google Shape;306;p21"/>
          <p:cNvSpPr/>
          <p:nvPr/>
        </p:nvSpPr>
        <p:spPr>
          <a:xfrm>
            <a:off x="822960" y="5074920"/>
            <a:ext cx="11064240" cy="685800"/>
          </a:xfrm>
          <a:prstGeom prst="rect">
            <a:avLst/>
          </a:prstGeom>
          <a:solidFill>
            <a:srgbClr val="FFFFFF"/>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7" name="Google Shape;307;p21"/>
          <p:cNvSpPr txBox="1"/>
          <p:nvPr/>
        </p:nvSpPr>
        <p:spPr>
          <a:xfrm>
            <a:off x="914400" y="5093207"/>
            <a:ext cx="27432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a:solidFill>
                  <a:srgbClr val="1A234E"/>
                </a:solidFill>
                <a:latin typeface="Calibri"/>
                <a:ea typeface="Calibri"/>
                <a:cs typeface="Calibri"/>
                <a:sym typeface="Calibri"/>
              </a:rPr>
              <a:t>Augmentation (train only)</a:t>
            </a:r>
            <a:endParaRPr/>
          </a:p>
        </p:txBody>
      </p:sp>
      <p:sp>
        <p:nvSpPr>
          <p:cNvPr id="308" name="Google Shape;308;p21"/>
          <p:cNvSpPr txBox="1"/>
          <p:nvPr/>
        </p:nvSpPr>
        <p:spPr>
          <a:xfrm>
            <a:off x="914400" y="5413248"/>
            <a:ext cx="10972800" cy="3200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Horizontal flip · Vertical flip · Rotation ±10° · Brightness ×[0.8,1.2] · Gaussian noise σ=0.02 — each at p=0.5</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2"/>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4" name="Google Shape;314;p22"/>
          <p:cNvSpPr txBox="1"/>
          <p:nvPr/>
        </p:nvSpPr>
        <p:spPr>
          <a:xfrm>
            <a:off x="274320" y="91440"/>
            <a:ext cx="11430000" cy="49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600" b="1" i="0" u="none" strike="noStrike" cap="none" dirty="0">
                <a:solidFill>
                  <a:srgbClr val="FFFFFF"/>
                </a:solidFill>
                <a:latin typeface="Calibri"/>
                <a:ea typeface="Calibri"/>
                <a:cs typeface="Calibri"/>
                <a:sym typeface="Calibri"/>
              </a:rPr>
              <a:t>Dataset — PhysioNet MPS Image Database v1.0</a:t>
            </a:r>
            <a:endParaRPr dirty="0"/>
          </a:p>
        </p:txBody>
      </p:sp>
      <p:sp>
        <p:nvSpPr>
          <p:cNvPr id="315" name="Google Shape;315;p22"/>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6" name="Google Shape;316;p22"/>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pic>
        <p:nvPicPr>
          <p:cNvPr id="317" name="Google Shape;317;p22"/>
          <p:cNvPicPr preferRelativeResize="0"/>
          <p:nvPr/>
        </p:nvPicPr>
        <p:blipFill>
          <a:blip r:embed="rId3">
            <a:alphaModFix/>
          </a:blip>
          <a:stretch>
            <a:fillRect/>
          </a:stretch>
        </p:blipFill>
        <p:spPr>
          <a:xfrm>
            <a:off x="182880" y="1325754"/>
            <a:ext cx="11884150" cy="422374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23"/>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3" name="Google Shape;323;p23"/>
          <p:cNvSpPr txBox="1"/>
          <p:nvPr/>
        </p:nvSpPr>
        <p:spPr>
          <a:xfrm>
            <a:off x="274320" y="91440"/>
            <a:ext cx="11430000" cy="9234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en-US" sz="2800" b="1">
                <a:solidFill>
                  <a:schemeClr val="lt1"/>
                </a:solidFill>
                <a:latin typeface="Calibri"/>
                <a:ea typeface="Calibri"/>
                <a:cs typeface="Calibri"/>
                <a:sym typeface="Calibri"/>
              </a:rPr>
              <a:t>Model Architectures (CNN Model)</a:t>
            </a:r>
            <a:endParaRPr>
              <a:solidFill>
                <a:schemeClr val="dk1"/>
              </a:solidFill>
            </a:endParaRPr>
          </a:p>
          <a:p>
            <a:pPr marL="0" marR="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324" name="Google Shape;324;p23"/>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5" name="Google Shape;325;p23"/>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pic>
        <p:nvPicPr>
          <p:cNvPr id="326" name="Google Shape;326;p23"/>
          <p:cNvPicPr preferRelativeResize="0"/>
          <p:nvPr/>
        </p:nvPicPr>
        <p:blipFill>
          <a:blip r:embed="rId3">
            <a:alphaModFix/>
          </a:blip>
          <a:stretch>
            <a:fillRect/>
          </a:stretch>
        </p:blipFill>
        <p:spPr>
          <a:xfrm>
            <a:off x="1576125" y="1343150"/>
            <a:ext cx="6978324" cy="4996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4"/>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2" name="Google Shape;332;p24"/>
          <p:cNvSpPr txBox="1"/>
          <p:nvPr/>
        </p:nvSpPr>
        <p:spPr>
          <a:xfrm>
            <a:off x="274320" y="91440"/>
            <a:ext cx="11430000" cy="9234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en-US" sz="2800" b="1">
                <a:solidFill>
                  <a:schemeClr val="lt1"/>
                </a:solidFill>
                <a:latin typeface="Calibri"/>
                <a:ea typeface="Calibri"/>
                <a:cs typeface="Calibri"/>
                <a:sym typeface="Calibri"/>
              </a:rPr>
              <a:t>Model Architectures (Attention U-net Model)</a:t>
            </a:r>
            <a:endParaRPr>
              <a:solidFill>
                <a:schemeClr val="dk1"/>
              </a:solidFill>
            </a:endParaRPr>
          </a:p>
          <a:p>
            <a:pPr marL="0" marR="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333" name="Google Shape;333;p24"/>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4" name="Google Shape;334;p24"/>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pic>
        <p:nvPicPr>
          <p:cNvPr id="335" name="Google Shape;335;p24"/>
          <p:cNvPicPr preferRelativeResize="0"/>
          <p:nvPr/>
        </p:nvPicPr>
        <p:blipFill>
          <a:blip r:embed="rId3">
            <a:alphaModFix/>
          </a:blip>
          <a:stretch>
            <a:fillRect/>
          </a:stretch>
        </p:blipFill>
        <p:spPr>
          <a:xfrm>
            <a:off x="1335500" y="1158300"/>
            <a:ext cx="7459576" cy="51815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25"/>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1" name="Google Shape;341;p25"/>
          <p:cNvSpPr txBox="1"/>
          <p:nvPr/>
        </p:nvSpPr>
        <p:spPr>
          <a:xfrm>
            <a:off x="274320" y="91440"/>
            <a:ext cx="11430000" cy="9234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en-US" sz="2800" b="1">
                <a:solidFill>
                  <a:schemeClr val="lt1"/>
                </a:solidFill>
                <a:latin typeface="Calibri"/>
                <a:ea typeface="Calibri"/>
                <a:cs typeface="Calibri"/>
                <a:sym typeface="Calibri"/>
              </a:rPr>
              <a:t>Model Architectures (U-net Models)</a:t>
            </a:r>
            <a:endParaRPr>
              <a:solidFill>
                <a:schemeClr val="dk1"/>
              </a:solidFill>
            </a:endParaRPr>
          </a:p>
          <a:p>
            <a:pPr marL="0" marR="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342" name="Google Shape;342;p25"/>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3" name="Google Shape;343;p25"/>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pic>
        <p:nvPicPr>
          <p:cNvPr id="344" name="Google Shape;344;p25"/>
          <p:cNvPicPr preferRelativeResize="0"/>
          <p:nvPr/>
        </p:nvPicPr>
        <p:blipFill>
          <a:blip r:embed="rId3">
            <a:alphaModFix/>
          </a:blip>
          <a:stretch>
            <a:fillRect/>
          </a:stretch>
        </p:blipFill>
        <p:spPr>
          <a:xfrm>
            <a:off x="914400" y="1158300"/>
            <a:ext cx="7399424" cy="51815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26"/>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0" name="Google Shape;350;p26"/>
          <p:cNvSpPr txBox="1"/>
          <p:nvPr/>
        </p:nvSpPr>
        <p:spPr>
          <a:xfrm>
            <a:off x="274320" y="91440"/>
            <a:ext cx="11430000" cy="9234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en-US" sz="2800" b="1">
                <a:solidFill>
                  <a:schemeClr val="lt1"/>
                </a:solidFill>
                <a:latin typeface="Calibri"/>
                <a:ea typeface="Calibri"/>
                <a:cs typeface="Calibri"/>
                <a:sym typeface="Calibri"/>
              </a:rPr>
              <a:t>Model Architectures (Vit Models)</a:t>
            </a:r>
            <a:endParaRPr>
              <a:solidFill>
                <a:schemeClr val="dk1"/>
              </a:solidFill>
            </a:endParaRPr>
          </a:p>
          <a:p>
            <a:pPr marL="0" marR="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351" name="Google Shape;351;p26"/>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2" name="Google Shape;352;p26"/>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pic>
        <p:nvPicPr>
          <p:cNvPr id="353" name="Google Shape;353;p26"/>
          <p:cNvPicPr preferRelativeResize="0"/>
          <p:nvPr/>
        </p:nvPicPr>
        <p:blipFill>
          <a:blip r:embed="rId3">
            <a:alphaModFix/>
          </a:blip>
          <a:stretch>
            <a:fillRect/>
          </a:stretch>
        </p:blipFill>
        <p:spPr>
          <a:xfrm>
            <a:off x="1155025" y="1158300"/>
            <a:ext cx="6497050" cy="51815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7"/>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9" name="Google Shape;359;p27"/>
          <p:cNvSpPr txBox="1"/>
          <p:nvPr/>
        </p:nvSpPr>
        <p:spPr>
          <a:xfrm>
            <a:off x="274320" y="91440"/>
            <a:ext cx="11430000" cy="822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FFFFFF"/>
                </a:solidFill>
                <a:latin typeface="Calibri"/>
                <a:ea typeface="Calibri"/>
                <a:cs typeface="Calibri"/>
                <a:sym typeface="Calibri"/>
              </a:rPr>
              <a:t>Model Results — Test Set Performance</a:t>
            </a:r>
            <a:endParaRPr dirty="0"/>
          </a:p>
        </p:txBody>
      </p:sp>
      <p:sp>
        <p:nvSpPr>
          <p:cNvPr id="360" name="Google Shape;360;p27"/>
          <p:cNvSpPr/>
          <p:nvPr/>
        </p:nvSpPr>
        <p:spPr>
          <a:xfrm>
            <a:off x="0" y="656840"/>
            <a:ext cx="12189000" cy="5852100"/>
          </a:xfrm>
          <a:prstGeom prst="rect">
            <a:avLst/>
          </a:prstGeom>
          <a:solidFill>
            <a:srgbClr val="F2F2F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1" name="Google Shape;361;p27"/>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2" name="Google Shape;362;p27"/>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sp>
        <p:nvSpPr>
          <p:cNvPr id="500" name="tbl_hdr_bg"/>
          <p:cNvSpPr/>
          <p:nvPr/>
        </p:nvSpPr>
        <p:spPr>
          <a:xfrm>
            <a:off x="228600" y="1097280"/>
            <a:ext cx="11731800" cy="411600"/>
          </a:xfrm>
          <a:prstGeom prst="rect">
            <a:avLst/>
          </a:prstGeom>
          <a:solidFill>
            <a:srgbClr val="1A234E"/>
          </a:solidFill>
          <a:ln>
            <a:noFill/>
          </a:ln>
        </p:spPr>
        <p:txBody>
          <a:bodyPr spcFirstLastPara="1" wrap="square" lIns="91425" tIns="45700" rIns="91425" bIns="45700" anchor="ctr" anchorCtr="0">
            <a:noAutofit/>
          </a:bodyPr>
          <a:lstStyle/>
          <a:p>
            <a:endParaRPr/>
          </a:p>
        </p:txBody>
      </p:sp>
      <p:sp>
        <p:nvSpPr>
          <p:cNvPr id="501" name="tbl_hdr_0"/>
          <p:cNvSpPr txBox="1"/>
          <p:nvPr/>
        </p:nvSpPr>
        <p:spPr>
          <a:xfrm>
            <a:off x="274320" y="1097280"/>
            <a:ext cx="1822413" cy="4116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Calibri"/>
                <a:ea typeface="Calibri"/>
                <a:cs typeface="Calibri"/>
              </a:rPr>
              <a:t>Model</a:t>
            </a:r>
          </a:p>
        </p:txBody>
      </p:sp>
      <p:sp>
        <p:nvSpPr>
          <p:cNvPr id="502" name="tbl_hdr_1"/>
          <p:cNvSpPr txBox="1"/>
          <p:nvPr/>
        </p:nvSpPr>
        <p:spPr>
          <a:xfrm>
            <a:off x="2141733" y="1097280"/>
            <a:ext cx="1431896" cy="4116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Calibri"/>
                <a:ea typeface="Calibri"/>
                <a:cs typeface="Calibri"/>
              </a:rPr>
              <a:t>Phase</a:t>
            </a:r>
          </a:p>
        </p:txBody>
      </p:sp>
      <p:sp>
        <p:nvSpPr>
          <p:cNvPr id="503" name="tbl_hdr_2"/>
          <p:cNvSpPr txBox="1"/>
          <p:nvPr/>
        </p:nvSpPr>
        <p:spPr>
          <a:xfrm>
            <a:off x="3618629" y="1097280"/>
            <a:ext cx="1236637" cy="4116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Calibri"/>
                <a:ea typeface="Calibri"/>
                <a:cs typeface="Calibri"/>
              </a:rPr>
              <a:t>DSC ↑</a:t>
            </a:r>
          </a:p>
        </p:txBody>
      </p:sp>
      <p:sp>
        <p:nvSpPr>
          <p:cNvPr id="504" name="tbl_hdr_3"/>
          <p:cNvSpPr txBox="1"/>
          <p:nvPr/>
        </p:nvSpPr>
        <p:spPr>
          <a:xfrm>
            <a:off x="4900266" y="1097280"/>
            <a:ext cx="1236637" cy="4116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Calibri"/>
                <a:ea typeface="Calibri"/>
                <a:cs typeface="Calibri"/>
              </a:rPr>
              <a:t>IoU ↑</a:t>
            </a:r>
          </a:p>
        </p:txBody>
      </p:sp>
      <p:sp>
        <p:nvSpPr>
          <p:cNvPr id="505" name="tbl_hdr_4"/>
          <p:cNvSpPr txBox="1"/>
          <p:nvPr/>
        </p:nvSpPr>
        <p:spPr>
          <a:xfrm>
            <a:off x="6181903" y="1097280"/>
            <a:ext cx="1236637" cy="4116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Calibri"/>
                <a:ea typeface="Calibri"/>
                <a:cs typeface="Calibri"/>
              </a:rPr>
              <a:t>Sens. ↑</a:t>
            </a:r>
          </a:p>
        </p:txBody>
      </p:sp>
      <p:sp>
        <p:nvSpPr>
          <p:cNvPr id="506" name="tbl_hdr_5"/>
          <p:cNvSpPr txBox="1"/>
          <p:nvPr/>
        </p:nvSpPr>
        <p:spPr>
          <a:xfrm>
            <a:off x="7463540" y="1097280"/>
            <a:ext cx="1236637" cy="4116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Calibri"/>
                <a:ea typeface="Calibri"/>
                <a:cs typeface="Calibri"/>
              </a:rPr>
              <a:t>Spec. ↑</a:t>
            </a:r>
          </a:p>
        </p:txBody>
      </p:sp>
      <p:sp>
        <p:nvSpPr>
          <p:cNvPr id="507" name="tbl_hdr_6"/>
          <p:cNvSpPr txBox="1"/>
          <p:nvPr/>
        </p:nvSpPr>
        <p:spPr>
          <a:xfrm>
            <a:off x="8745177" y="1097280"/>
            <a:ext cx="1562068" cy="4116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Calibri"/>
                <a:ea typeface="Calibri"/>
                <a:cs typeface="Calibri"/>
              </a:rPr>
              <a:t>Params ↓</a:t>
            </a:r>
          </a:p>
        </p:txBody>
      </p:sp>
      <p:sp>
        <p:nvSpPr>
          <p:cNvPr id="508" name="tbl_hdr_7"/>
          <p:cNvSpPr txBox="1"/>
          <p:nvPr/>
        </p:nvSpPr>
        <p:spPr>
          <a:xfrm>
            <a:off x="10352245" y="1097280"/>
            <a:ext cx="1562068" cy="4116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300" b="1" i="0" u="none" strike="noStrike" cap="none">
                <a:solidFill>
                  <a:srgbClr val="FFFFFF"/>
                </a:solidFill>
                <a:latin typeface="Calibri"/>
                <a:ea typeface="Calibri"/>
                <a:cs typeface="Calibri"/>
              </a:rPr>
              <a:t>Latency (ms)</a:t>
            </a:r>
          </a:p>
        </p:txBody>
      </p:sp>
      <p:sp>
        <p:nvSpPr>
          <p:cNvPr id="509" name="tbl_row_bg_0"/>
          <p:cNvSpPr/>
          <p:nvPr/>
        </p:nvSpPr>
        <p:spPr>
          <a:xfrm>
            <a:off x="228600" y="1508880"/>
            <a:ext cx="11731800" cy="460000"/>
          </a:xfrm>
          <a:prstGeom prst="rect">
            <a:avLst/>
          </a:prstGeom>
          <a:solidFill>
            <a:srgbClr val="E8F8E8"/>
          </a:solidFill>
          <a:ln>
            <a:noFill/>
          </a:ln>
        </p:spPr>
        <p:txBody>
          <a:bodyPr spcFirstLastPara="1" wrap="square" lIns="91425" tIns="45700" rIns="91425" bIns="45700" anchor="ctr" anchorCtr="0">
            <a:noAutofit/>
          </a:bodyPr>
          <a:lstStyle/>
          <a:p>
            <a:endParaRPr/>
          </a:p>
        </p:txBody>
      </p:sp>
      <p:sp>
        <p:nvSpPr>
          <p:cNvPr id="510" name="tbl_r0_c0"/>
          <p:cNvSpPr txBox="1"/>
          <p:nvPr/>
        </p:nvSpPr>
        <p:spPr>
          <a:xfrm>
            <a:off x="274320" y="1508880"/>
            <a:ext cx="1822413"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1" i="0" u="none" strike="noStrike" cap="none">
                <a:solidFill>
                  <a:srgbClr val="1A234E"/>
                </a:solidFill>
                <a:latin typeface="Calibri"/>
                <a:ea typeface="Calibri"/>
                <a:cs typeface="Calibri"/>
              </a:rPr>
              <a:t>Attention</a:t>
            </a:r>
          </a:p>
          <a:p>
            <a:pPr marL="0" marR="0" lvl="0" indent="0" algn="ctr" rtl="0">
              <a:spcBef>
                <a:spcPts val="0"/>
              </a:spcBef>
              <a:spcAft>
                <a:spcPts val="0"/>
              </a:spcAft>
              <a:buNone/>
            </a:pPr>
            <a:r>
              <a:rPr lang="en-US" sz="1200" b="1" i="0" u="none" strike="noStrike" cap="none">
                <a:solidFill>
                  <a:srgbClr val="1A234E"/>
                </a:solidFill>
                <a:latin typeface="Calibri"/>
                <a:ea typeface="Calibri"/>
                <a:cs typeface="Calibri"/>
              </a:rPr>
              <a:t>U-Net</a:t>
            </a:r>
          </a:p>
        </p:txBody>
      </p:sp>
      <p:sp>
        <p:nvSpPr>
          <p:cNvPr id="511" name="tbl_r0_c1"/>
          <p:cNvSpPr txBox="1"/>
          <p:nvPr/>
        </p:nvSpPr>
        <p:spPr>
          <a:xfrm>
            <a:off x="2141733" y="1508880"/>
            <a:ext cx="1431896"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555555"/>
                </a:solidFill>
                <a:latin typeface="Calibri"/>
                <a:ea typeface="Calibri"/>
                <a:cs typeface="Calibri"/>
              </a:rPr>
              <a:t>Hyper-Tuned</a:t>
            </a:r>
          </a:p>
        </p:txBody>
      </p:sp>
      <p:sp>
        <p:nvSpPr>
          <p:cNvPr id="512" name="tbl_r0_c2"/>
          <p:cNvSpPr txBox="1"/>
          <p:nvPr/>
        </p:nvSpPr>
        <p:spPr>
          <a:xfrm>
            <a:off x="3618629" y="150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1" i="0" u="none" strike="noStrike" cap="none" dirty="0">
                <a:solidFill>
                  <a:srgbClr val="1A7A1A"/>
                </a:solidFill>
                <a:latin typeface="Calibri"/>
                <a:ea typeface="Calibri"/>
                <a:cs typeface="Calibri"/>
              </a:rPr>
              <a:t>0.9204</a:t>
            </a:r>
          </a:p>
        </p:txBody>
      </p:sp>
      <p:sp>
        <p:nvSpPr>
          <p:cNvPr id="513" name="tbl_r0_c3"/>
          <p:cNvSpPr txBox="1"/>
          <p:nvPr/>
        </p:nvSpPr>
        <p:spPr>
          <a:xfrm>
            <a:off x="4900266" y="150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dirty="0">
                <a:solidFill>
                  <a:srgbClr val="222222"/>
                </a:solidFill>
                <a:latin typeface="Calibri"/>
                <a:ea typeface="Calibri"/>
                <a:cs typeface="Calibri"/>
              </a:rPr>
              <a:t>0.8536</a:t>
            </a:r>
          </a:p>
        </p:txBody>
      </p:sp>
      <p:sp>
        <p:nvSpPr>
          <p:cNvPr id="514" name="tbl_r0_c4"/>
          <p:cNvSpPr txBox="1"/>
          <p:nvPr/>
        </p:nvSpPr>
        <p:spPr>
          <a:xfrm>
            <a:off x="6181903" y="150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0.9879</a:t>
            </a:r>
          </a:p>
        </p:txBody>
      </p:sp>
      <p:sp>
        <p:nvSpPr>
          <p:cNvPr id="515" name="tbl_r0_c5"/>
          <p:cNvSpPr txBox="1"/>
          <p:nvPr/>
        </p:nvSpPr>
        <p:spPr>
          <a:xfrm>
            <a:off x="7463540" y="150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0.9849</a:t>
            </a:r>
          </a:p>
        </p:txBody>
      </p:sp>
      <p:sp>
        <p:nvSpPr>
          <p:cNvPr id="516" name="tbl_r0_c6"/>
          <p:cNvSpPr txBox="1"/>
          <p:nvPr/>
        </p:nvSpPr>
        <p:spPr>
          <a:xfrm>
            <a:off x="8745177" y="150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490,914</a:t>
            </a:r>
          </a:p>
        </p:txBody>
      </p:sp>
      <p:sp>
        <p:nvSpPr>
          <p:cNvPr id="517" name="tbl_r0_c7"/>
          <p:cNvSpPr txBox="1"/>
          <p:nvPr/>
        </p:nvSpPr>
        <p:spPr>
          <a:xfrm>
            <a:off x="10352245" y="150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15.01</a:t>
            </a:r>
          </a:p>
        </p:txBody>
      </p:sp>
      <p:sp>
        <p:nvSpPr>
          <p:cNvPr id="518" name="tbl_row_bg_1"/>
          <p:cNvSpPr/>
          <p:nvPr/>
        </p:nvSpPr>
        <p:spPr>
          <a:xfrm>
            <a:off x="228600" y="1968880"/>
            <a:ext cx="11731800" cy="460000"/>
          </a:xfrm>
          <a:prstGeom prst="rect">
            <a:avLst/>
          </a:prstGeom>
          <a:solidFill>
            <a:srgbClr val="FFFFFF"/>
          </a:solidFill>
          <a:ln>
            <a:noFill/>
          </a:ln>
        </p:spPr>
        <p:txBody>
          <a:bodyPr spcFirstLastPara="1" wrap="square" lIns="91425" tIns="45700" rIns="91425" bIns="45700" anchor="ctr" anchorCtr="0">
            <a:noAutofit/>
          </a:bodyPr>
          <a:lstStyle/>
          <a:p>
            <a:endParaRPr/>
          </a:p>
        </p:txBody>
      </p:sp>
      <p:sp>
        <p:nvSpPr>
          <p:cNvPr id="519" name="tbl_r1_c1"/>
          <p:cNvSpPr txBox="1"/>
          <p:nvPr/>
        </p:nvSpPr>
        <p:spPr>
          <a:xfrm>
            <a:off x="2141733" y="1968880"/>
            <a:ext cx="1431896"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555555"/>
                </a:solidFill>
                <a:latin typeface="Calibri"/>
                <a:ea typeface="Calibri"/>
                <a:cs typeface="Calibri"/>
              </a:rPr>
              <a:t>Test Set</a:t>
            </a:r>
          </a:p>
        </p:txBody>
      </p:sp>
      <p:sp>
        <p:nvSpPr>
          <p:cNvPr id="520" name="tbl_r1_c2"/>
          <p:cNvSpPr txBox="1"/>
          <p:nvPr/>
        </p:nvSpPr>
        <p:spPr>
          <a:xfrm>
            <a:off x="3618629" y="196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dirty="0">
                <a:solidFill>
                  <a:srgbClr val="222222"/>
                </a:solidFill>
                <a:latin typeface="Calibri"/>
                <a:ea typeface="Calibri"/>
                <a:cs typeface="Calibri"/>
              </a:rPr>
              <a:t>0.8816</a:t>
            </a:r>
          </a:p>
        </p:txBody>
      </p:sp>
      <p:sp>
        <p:nvSpPr>
          <p:cNvPr id="521" name="tbl_r1_c3"/>
          <p:cNvSpPr txBox="1"/>
          <p:nvPr/>
        </p:nvSpPr>
        <p:spPr>
          <a:xfrm>
            <a:off x="4900266" y="196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dirty="0">
                <a:solidFill>
                  <a:srgbClr val="222222"/>
                </a:solidFill>
                <a:latin typeface="Calibri"/>
                <a:ea typeface="Calibri"/>
                <a:cs typeface="Calibri"/>
              </a:rPr>
              <a:t>0.7923</a:t>
            </a:r>
          </a:p>
        </p:txBody>
      </p:sp>
      <p:sp>
        <p:nvSpPr>
          <p:cNvPr id="522" name="tbl_r1_c4"/>
          <p:cNvSpPr txBox="1"/>
          <p:nvPr/>
        </p:nvSpPr>
        <p:spPr>
          <a:xfrm>
            <a:off x="6181903" y="196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dirty="0">
                <a:solidFill>
                  <a:srgbClr val="222222"/>
                </a:solidFill>
                <a:latin typeface="Calibri"/>
                <a:ea typeface="Calibri"/>
                <a:cs typeface="Calibri"/>
              </a:rPr>
              <a:t>0.9743</a:t>
            </a:r>
          </a:p>
        </p:txBody>
      </p:sp>
      <p:sp>
        <p:nvSpPr>
          <p:cNvPr id="523" name="tbl_r1_c5"/>
          <p:cNvSpPr txBox="1"/>
          <p:nvPr/>
        </p:nvSpPr>
        <p:spPr>
          <a:xfrm>
            <a:off x="7463540" y="196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dirty="0">
                <a:solidFill>
                  <a:srgbClr val="222222"/>
                </a:solidFill>
                <a:latin typeface="Calibri"/>
                <a:ea typeface="Calibri"/>
                <a:cs typeface="Calibri"/>
              </a:rPr>
              <a:t>0.9901</a:t>
            </a:r>
          </a:p>
        </p:txBody>
      </p:sp>
      <p:sp>
        <p:nvSpPr>
          <p:cNvPr id="524" name="tbl_r1_c6"/>
          <p:cNvSpPr txBox="1"/>
          <p:nvPr/>
        </p:nvSpPr>
        <p:spPr>
          <a:xfrm>
            <a:off x="8745177" y="196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a:t>
            </a:r>
          </a:p>
        </p:txBody>
      </p:sp>
      <p:sp>
        <p:nvSpPr>
          <p:cNvPr id="525" name="tbl_r1_c7"/>
          <p:cNvSpPr txBox="1"/>
          <p:nvPr/>
        </p:nvSpPr>
        <p:spPr>
          <a:xfrm>
            <a:off x="10352245" y="196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a:t>
            </a:r>
          </a:p>
        </p:txBody>
      </p:sp>
      <p:sp>
        <p:nvSpPr>
          <p:cNvPr id="526" name="tbl_row_bg_2"/>
          <p:cNvSpPr/>
          <p:nvPr/>
        </p:nvSpPr>
        <p:spPr>
          <a:xfrm>
            <a:off x="228600" y="2428880"/>
            <a:ext cx="11731800" cy="460000"/>
          </a:xfrm>
          <a:prstGeom prst="rect">
            <a:avLst/>
          </a:prstGeom>
          <a:solidFill>
            <a:srgbClr val="E8F8E8"/>
          </a:solidFill>
          <a:ln>
            <a:noFill/>
          </a:ln>
        </p:spPr>
        <p:txBody>
          <a:bodyPr spcFirstLastPara="1" wrap="square" lIns="91425" tIns="45700" rIns="91425" bIns="45700" anchor="ctr" anchorCtr="0">
            <a:noAutofit/>
          </a:bodyPr>
          <a:lstStyle/>
          <a:p>
            <a:endParaRPr/>
          </a:p>
        </p:txBody>
      </p:sp>
      <p:sp>
        <p:nvSpPr>
          <p:cNvPr id="527" name="tbl_r2_c0"/>
          <p:cNvSpPr txBox="1"/>
          <p:nvPr/>
        </p:nvSpPr>
        <p:spPr>
          <a:xfrm>
            <a:off x="274320" y="2428880"/>
            <a:ext cx="1822413"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1" i="0" u="none" strike="noStrike" cap="none">
                <a:solidFill>
                  <a:srgbClr val="1A234E"/>
                </a:solidFill>
                <a:latin typeface="Calibri"/>
                <a:ea typeface="Calibri"/>
                <a:cs typeface="Calibri"/>
              </a:rPr>
              <a:t>U-Net</a:t>
            </a:r>
          </a:p>
        </p:txBody>
      </p:sp>
      <p:sp>
        <p:nvSpPr>
          <p:cNvPr id="528" name="tbl_r2_c1"/>
          <p:cNvSpPr txBox="1"/>
          <p:nvPr/>
        </p:nvSpPr>
        <p:spPr>
          <a:xfrm>
            <a:off x="2141733" y="2428880"/>
            <a:ext cx="1431896"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555555"/>
                </a:solidFill>
                <a:latin typeface="Calibri"/>
                <a:ea typeface="Calibri"/>
                <a:cs typeface="Calibri"/>
              </a:rPr>
              <a:t>Hyper-Tuned</a:t>
            </a:r>
          </a:p>
        </p:txBody>
      </p:sp>
      <p:sp>
        <p:nvSpPr>
          <p:cNvPr id="529" name="tbl_r2_c2"/>
          <p:cNvSpPr txBox="1"/>
          <p:nvPr/>
        </p:nvSpPr>
        <p:spPr>
          <a:xfrm>
            <a:off x="3617542" y="242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dirty="0">
                <a:solidFill>
                  <a:srgbClr val="222222"/>
                </a:solidFill>
                <a:latin typeface="Calibri"/>
                <a:ea typeface="Calibri"/>
                <a:cs typeface="Calibri"/>
              </a:rPr>
              <a:t>0.9174</a:t>
            </a:r>
          </a:p>
        </p:txBody>
      </p:sp>
      <p:sp>
        <p:nvSpPr>
          <p:cNvPr id="530" name="tbl_r2_c3"/>
          <p:cNvSpPr txBox="1"/>
          <p:nvPr/>
        </p:nvSpPr>
        <p:spPr>
          <a:xfrm>
            <a:off x="4900266" y="242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dirty="0">
                <a:solidFill>
                  <a:srgbClr val="222222"/>
                </a:solidFill>
                <a:latin typeface="Calibri"/>
                <a:ea typeface="Calibri"/>
                <a:cs typeface="Calibri"/>
              </a:rPr>
              <a:t>0.8486</a:t>
            </a:r>
          </a:p>
        </p:txBody>
      </p:sp>
      <p:sp>
        <p:nvSpPr>
          <p:cNvPr id="531" name="tbl_r2_c4"/>
          <p:cNvSpPr txBox="1"/>
          <p:nvPr/>
        </p:nvSpPr>
        <p:spPr>
          <a:xfrm>
            <a:off x="6181903" y="242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0.9896</a:t>
            </a:r>
          </a:p>
        </p:txBody>
      </p:sp>
      <p:sp>
        <p:nvSpPr>
          <p:cNvPr id="532" name="tbl_r2_c5"/>
          <p:cNvSpPr txBox="1"/>
          <p:nvPr/>
        </p:nvSpPr>
        <p:spPr>
          <a:xfrm>
            <a:off x="7463540" y="242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0.9840</a:t>
            </a:r>
          </a:p>
        </p:txBody>
      </p:sp>
      <p:sp>
        <p:nvSpPr>
          <p:cNvPr id="533" name="tbl_r2_c6"/>
          <p:cNvSpPr txBox="1"/>
          <p:nvPr/>
        </p:nvSpPr>
        <p:spPr>
          <a:xfrm>
            <a:off x="8745177" y="242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1,942,289</a:t>
            </a:r>
          </a:p>
        </p:txBody>
      </p:sp>
      <p:sp>
        <p:nvSpPr>
          <p:cNvPr id="534" name="tbl_r2_c7"/>
          <p:cNvSpPr txBox="1"/>
          <p:nvPr/>
        </p:nvSpPr>
        <p:spPr>
          <a:xfrm>
            <a:off x="10352245" y="242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16.61</a:t>
            </a:r>
          </a:p>
        </p:txBody>
      </p:sp>
      <p:sp>
        <p:nvSpPr>
          <p:cNvPr id="535" name="tbl_row_bg_3"/>
          <p:cNvSpPr/>
          <p:nvPr/>
        </p:nvSpPr>
        <p:spPr>
          <a:xfrm>
            <a:off x="228600" y="2888880"/>
            <a:ext cx="11731800" cy="460000"/>
          </a:xfrm>
          <a:prstGeom prst="rect">
            <a:avLst/>
          </a:prstGeom>
          <a:solidFill>
            <a:srgbClr val="FFFFFF"/>
          </a:solidFill>
          <a:ln>
            <a:noFill/>
          </a:ln>
        </p:spPr>
        <p:txBody>
          <a:bodyPr spcFirstLastPara="1" wrap="square" lIns="91425" tIns="45700" rIns="91425" bIns="45700" anchor="ctr" anchorCtr="0">
            <a:noAutofit/>
          </a:bodyPr>
          <a:lstStyle/>
          <a:p>
            <a:endParaRPr/>
          </a:p>
        </p:txBody>
      </p:sp>
      <p:sp>
        <p:nvSpPr>
          <p:cNvPr id="536" name="tbl_r3_c1"/>
          <p:cNvSpPr txBox="1"/>
          <p:nvPr/>
        </p:nvSpPr>
        <p:spPr>
          <a:xfrm>
            <a:off x="2141733" y="2888880"/>
            <a:ext cx="1431896"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555555"/>
                </a:solidFill>
                <a:latin typeface="Calibri"/>
                <a:ea typeface="Calibri"/>
                <a:cs typeface="Calibri"/>
              </a:rPr>
              <a:t>Test Set</a:t>
            </a:r>
          </a:p>
        </p:txBody>
      </p:sp>
      <p:sp>
        <p:nvSpPr>
          <p:cNvPr id="537" name="tbl_r3_c2"/>
          <p:cNvSpPr txBox="1"/>
          <p:nvPr/>
        </p:nvSpPr>
        <p:spPr>
          <a:xfrm>
            <a:off x="3618629" y="2888880"/>
            <a:ext cx="1236637" cy="460000"/>
          </a:xfrm>
          <a:prstGeom prst="rect">
            <a:avLst/>
          </a:prstGeom>
          <a:noFill/>
          <a:ln>
            <a:noFill/>
          </a:ln>
        </p:spPr>
        <p:txBody>
          <a:bodyPr spcFirstLastPara="1" wrap="square" lIns="45700" tIns="45700" rIns="45700" bIns="45700" anchor="ctr" anchorCtr="0">
            <a:noAutofit/>
          </a:bodyPr>
          <a:lstStyle/>
          <a:p>
            <a:pPr lvl="0" algn="ctr"/>
            <a:r>
              <a:rPr lang="en-US" sz="1200">
                <a:solidFill>
                  <a:srgbClr val="222222"/>
                </a:solidFill>
                <a:latin typeface="Calibri"/>
                <a:ea typeface="Calibri"/>
                <a:cs typeface="Calibri"/>
              </a:rPr>
              <a:t>0.8931</a:t>
            </a:r>
            <a:endParaRPr lang="en-US" sz="1200" b="0" i="0" u="none" strike="noStrike" cap="none" dirty="0">
              <a:solidFill>
                <a:srgbClr val="222222"/>
              </a:solidFill>
              <a:latin typeface="Calibri"/>
              <a:ea typeface="Calibri"/>
              <a:cs typeface="Calibri"/>
            </a:endParaRPr>
          </a:p>
        </p:txBody>
      </p:sp>
      <p:sp>
        <p:nvSpPr>
          <p:cNvPr id="538" name="tbl_r3_c3"/>
          <p:cNvSpPr txBox="1"/>
          <p:nvPr/>
        </p:nvSpPr>
        <p:spPr>
          <a:xfrm>
            <a:off x="4900266" y="2888880"/>
            <a:ext cx="1236637" cy="460000"/>
          </a:xfrm>
          <a:prstGeom prst="rect">
            <a:avLst/>
          </a:prstGeom>
          <a:noFill/>
          <a:ln>
            <a:noFill/>
          </a:ln>
        </p:spPr>
        <p:txBody>
          <a:bodyPr spcFirstLastPara="1" wrap="square" lIns="45700" tIns="45700" rIns="45700" bIns="45700" anchor="ctr" anchorCtr="0">
            <a:noAutofit/>
          </a:bodyPr>
          <a:lstStyle/>
          <a:p>
            <a:pPr lvl="0" algn="ctr"/>
            <a:r>
              <a:rPr lang="en-US" sz="1200">
                <a:solidFill>
                  <a:srgbClr val="222222"/>
                </a:solidFill>
                <a:latin typeface="Calibri"/>
                <a:ea typeface="Calibri"/>
                <a:cs typeface="Calibri"/>
              </a:rPr>
              <a:t>0.8097</a:t>
            </a:r>
            <a:endParaRPr lang="en-US" sz="1200" b="0" i="0" u="none" strike="noStrike" cap="none" dirty="0">
              <a:solidFill>
                <a:srgbClr val="222222"/>
              </a:solidFill>
              <a:latin typeface="Calibri"/>
              <a:ea typeface="Calibri"/>
              <a:cs typeface="Calibri"/>
            </a:endParaRPr>
          </a:p>
        </p:txBody>
      </p:sp>
      <p:sp>
        <p:nvSpPr>
          <p:cNvPr id="539" name="tbl_r3_c4"/>
          <p:cNvSpPr txBox="1"/>
          <p:nvPr/>
        </p:nvSpPr>
        <p:spPr>
          <a:xfrm>
            <a:off x="6181903" y="2888880"/>
            <a:ext cx="1236637" cy="460000"/>
          </a:xfrm>
          <a:prstGeom prst="rect">
            <a:avLst/>
          </a:prstGeom>
          <a:noFill/>
          <a:ln>
            <a:noFill/>
          </a:ln>
        </p:spPr>
        <p:txBody>
          <a:bodyPr spcFirstLastPara="1" wrap="square" lIns="45700" tIns="45700" rIns="45700" bIns="45700" anchor="ctr" anchorCtr="0">
            <a:noAutofit/>
          </a:bodyPr>
          <a:lstStyle/>
          <a:p>
            <a:pPr lvl="0" algn="ctr"/>
            <a:r>
              <a:rPr lang="en-US" sz="1200">
                <a:solidFill>
                  <a:srgbClr val="222222"/>
                </a:solidFill>
                <a:latin typeface="Calibri"/>
                <a:ea typeface="Calibri"/>
                <a:cs typeface="Calibri"/>
              </a:rPr>
              <a:t>0.9191</a:t>
            </a:r>
            <a:endParaRPr lang="en-US" sz="1200" b="0" i="0" u="none" strike="noStrike" cap="none" dirty="0">
              <a:solidFill>
                <a:srgbClr val="222222"/>
              </a:solidFill>
              <a:latin typeface="Calibri"/>
              <a:ea typeface="Calibri"/>
              <a:cs typeface="Calibri"/>
            </a:endParaRPr>
          </a:p>
        </p:txBody>
      </p:sp>
      <p:sp>
        <p:nvSpPr>
          <p:cNvPr id="540" name="tbl_r3_c5"/>
          <p:cNvSpPr txBox="1"/>
          <p:nvPr/>
        </p:nvSpPr>
        <p:spPr>
          <a:xfrm>
            <a:off x="7463540" y="288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dirty="0">
                <a:solidFill>
                  <a:srgbClr val="222222"/>
                </a:solidFill>
                <a:latin typeface="Calibri"/>
                <a:ea typeface="Calibri"/>
                <a:cs typeface="Calibri"/>
              </a:rPr>
              <a:t>0.9943</a:t>
            </a:r>
          </a:p>
        </p:txBody>
      </p:sp>
      <p:sp>
        <p:nvSpPr>
          <p:cNvPr id="541" name="tbl_r3_c6"/>
          <p:cNvSpPr txBox="1"/>
          <p:nvPr/>
        </p:nvSpPr>
        <p:spPr>
          <a:xfrm>
            <a:off x="8745177" y="288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a:t>
            </a:r>
          </a:p>
        </p:txBody>
      </p:sp>
      <p:sp>
        <p:nvSpPr>
          <p:cNvPr id="542" name="tbl_r3_c7"/>
          <p:cNvSpPr txBox="1"/>
          <p:nvPr/>
        </p:nvSpPr>
        <p:spPr>
          <a:xfrm>
            <a:off x="10352245" y="288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a:t>
            </a:r>
          </a:p>
        </p:txBody>
      </p:sp>
      <p:sp>
        <p:nvSpPr>
          <p:cNvPr id="543" name="tbl_row_bg_4"/>
          <p:cNvSpPr/>
          <p:nvPr/>
        </p:nvSpPr>
        <p:spPr>
          <a:xfrm>
            <a:off x="228600" y="3348880"/>
            <a:ext cx="11731800" cy="460000"/>
          </a:xfrm>
          <a:prstGeom prst="rect">
            <a:avLst/>
          </a:prstGeom>
          <a:solidFill>
            <a:srgbClr val="E8F8E8"/>
          </a:solidFill>
          <a:ln>
            <a:noFill/>
          </a:ln>
        </p:spPr>
        <p:txBody>
          <a:bodyPr spcFirstLastPara="1" wrap="square" lIns="91425" tIns="45700" rIns="91425" bIns="45700" anchor="ctr" anchorCtr="0">
            <a:noAutofit/>
          </a:bodyPr>
          <a:lstStyle/>
          <a:p>
            <a:endParaRPr/>
          </a:p>
        </p:txBody>
      </p:sp>
      <p:sp>
        <p:nvSpPr>
          <p:cNvPr id="544" name="tbl_r4_c0"/>
          <p:cNvSpPr txBox="1"/>
          <p:nvPr/>
        </p:nvSpPr>
        <p:spPr>
          <a:xfrm>
            <a:off x="274320" y="3348880"/>
            <a:ext cx="1822413"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1" i="0" u="none" strike="noStrike" cap="none">
                <a:solidFill>
                  <a:srgbClr val="1A234E"/>
                </a:solidFill>
                <a:latin typeface="Calibri"/>
                <a:ea typeface="Calibri"/>
                <a:cs typeface="Calibri"/>
              </a:rPr>
              <a:t>ViTSeg</a:t>
            </a:r>
          </a:p>
        </p:txBody>
      </p:sp>
      <p:sp>
        <p:nvSpPr>
          <p:cNvPr id="545" name="tbl_r4_c1"/>
          <p:cNvSpPr txBox="1"/>
          <p:nvPr/>
        </p:nvSpPr>
        <p:spPr>
          <a:xfrm>
            <a:off x="2141733" y="3348880"/>
            <a:ext cx="1431896"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555555"/>
                </a:solidFill>
                <a:latin typeface="Calibri"/>
                <a:ea typeface="Calibri"/>
                <a:cs typeface="Calibri"/>
              </a:rPr>
              <a:t>Test Set</a:t>
            </a:r>
          </a:p>
        </p:txBody>
      </p:sp>
      <p:sp>
        <p:nvSpPr>
          <p:cNvPr id="546" name="tbl_r4_c2"/>
          <p:cNvSpPr txBox="1"/>
          <p:nvPr/>
        </p:nvSpPr>
        <p:spPr>
          <a:xfrm>
            <a:off x="3618629" y="334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0.8007</a:t>
            </a:r>
          </a:p>
        </p:txBody>
      </p:sp>
      <p:sp>
        <p:nvSpPr>
          <p:cNvPr id="547" name="tbl_r4_c3"/>
          <p:cNvSpPr txBox="1"/>
          <p:nvPr/>
        </p:nvSpPr>
        <p:spPr>
          <a:xfrm>
            <a:off x="4900266" y="334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0.7093</a:t>
            </a:r>
          </a:p>
        </p:txBody>
      </p:sp>
      <p:sp>
        <p:nvSpPr>
          <p:cNvPr id="548" name="tbl_r4_c4"/>
          <p:cNvSpPr txBox="1"/>
          <p:nvPr/>
        </p:nvSpPr>
        <p:spPr>
          <a:xfrm>
            <a:off x="6181903" y="334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0.8272</a:t>
            </a:r>
          </a:p>
        </p:txBody>
      </p:sp>
      <p:sp>
        <p:nvSpPr>
          <p:cNvPr id="549" name="tbl_r4_c5"/>
          <p:cNvSpPr txBox="1"/>
          <p:nvPr/>
        </p:nvSpPr>
        <p:spPr>
          <a:xfrm>
            <a:off x="7463540" y="334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0.9936</a:t>
            </a:r>
          </a:p>
        </p:txBody>
      </p:sp>
      <p:sp>
        <p:nvSpPr>
          <p:cNvPr id="550" name="tbl_r4_c6"/>
          <p:cNvSpPr txBox="1"/>
          <p:nvPr/>
        </p:nvSpPr>
        <p:spPr>
          <a:xfrm>
            <a:off x="8745177" y="334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a:t>
            </a:r>
          </a:p>
        </p:txBody>
      </p:sp>
      <p:sp>
        <p:nvSpPr>
          <p:cNvPr id="551" name="tbl_r4_c7"/>
          <p:cNvSpPr txBox="1"/>
          <p:nvPr/>
        </p:nvSpPr>
        <p:spPr>
          <a:xfrm>
            <a:off x="10352245" y="334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a:t>
            </a:r>
          </a:p>
        </p:txBody>
      </p:sp>
      <p:sp>
        <p:nvSpPr>
          <p:cNvPr id="552" name="tbl_row_bg_5"/>
          <p:cNvSpPr/>
          <p:nvPr/>
        </p:nvSpPr>
        <p:spPr>
          <a:xfrm>
            <a:off x="228600" y="3808880"/>
            <a:ext cx="11731800" cy="460000"/>
          </a:xfrm>
          <a:prstGeom prst="rect">
            <a:avLst/>
          </a:prstGeom>
          <a:solidFill>
            <a:srgbClr val="FFFFFF"/>
          </a:solidFill>
          <a:ln>
            <a:noFill/>
          </a:ln>
        </p:spPr>
        <p:txBody>
          <a:bodyPr spcFirstLastPara="1" wrap="square" lIns="91425" tIns="45700" rIns="91425" bIns="45700" anchor="ctr" anchorCtr="0">
            <a:noAutofit/>
          </a:bodyPr>
          <a:lstStyle/>
          <a:p>
            <a:endParaRPr/>
          </a:p>
        </p:txBody>
      </p:sp>
      <p:sp>
        <p:nvSpPr>
          <p:cNvPr id="553" name="tbl_r5_c0"/>
          <p:cNvSpPr txBox="1"/>
          <p:nvPr/>
        </p:nvSpPr>
        <p:spPr>
          <a:xfrm>
            <a:off x="274320" y="3808880"/>
            <a:ext cx="1822413"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1" i="0" u="none" strike="noStrike" cap="none">
                <a:solidFill>
                  <a:srgbClr val="1A234E"/>
                </a:solidFill>
                <a:latin typeface="Calibri"/>
                <a:ea typeface="Calibri"/>
                <a:cs typeface="Calibri"/>
              </a:rPr>
              <a:t>Normal CNN</a:t>
            </a:r>
          </a:p>
        </p:txBody>
      </p:sp>
      <p:sp>
        <p:nvSpPr>
          <p:cNvPr id="554" name="tbl_r5_c1"/>
          <p:cNvSpPr txBox="1"/>
          <p:nvPr/>
        </p:nvSpPr>
        <p:spPr>
          <a:xfrm>
            <a:off x="2141733" y="3808880"/>
            <a:ext cx="1431896"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555555"/>
                </a:solidFill>
                <a:latin typeface="Calibri"/>
                <a:ea typeface="Calibri"/>
                <a:cs typeface="Calibri"/>
              </a:rPr>
              <a:t>Test Set</a:t>
            </a:r>
          </a:p>
        </p:txBody>
      </p:sp>
      <p:sp>
        <p:nvSpPr>
          <p:cNvPr id="555" name="tbl_r5_c2"/>
          <p:cNvSpPr txBox="1"/>
          <p:nvPr/>
        </p:nvSpPr>
        <p:spPr>
          <a:xfrm>
            <a:off x="3618629" y="380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0.7928</a:t>
            </a:r>
          </a:p>
        </p:txBody>
      </p:sp>
      <p:sp>
        <p:nvSpPr>
          <p:cNvPr id="556" name="tbl_r5_c3"/>
          <p:cNvSpPr txBox="1"/>
          <p:nvPr/>
        </p:nvSpPr>
        <p:spPr>
          <a:xfrm>
            <a:off x="4900266" y="380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0.7040</a:t>
            </a:r>
          </a:p>
        </p:txBody>
      </p:sp>
      <p:sp>
        <p:nvSpPr>
          <p:cNvPr id="557" name="tbl_r5_c4"/>
          <p:cNvSpPr txBox="1"/>
          <p:nvPr/>
        </p:nvSpPr>
        <p:spPr>
          <a:xfrm>
            <a:off x="6181903" y="380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0.8012</a:t>
            </a:r>
          </a:p>
        </p:txBody>
      </p:sp>
      <p:sp>
        <p:nvSpPr>
          <p:cNvPr id="558" name="tbl_r5_c5"/>
          <p:cNvSpPr txBox="1"/>
          <p:nvPr/>
        </p:nvSpPr>
        <p:spPr>
          <a:xfrm>
            <a:off x="7463540" y="3808880"/>
            <a:ext cx="1236637"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0.9949</a:t>
            </a:r>
          </a:p>
        </p:txBody>
      </p:sp>
      <p:sp>
        <p:nvSpPr>
          <p:cNvPr id="559" name="tbl_r5_c6"/>
          <p:cNvSpPr txBox="1"/>
          <p:nvPr/>
        </p:nvSpPr>
        <p:spPr>
          <a:xfrm>
            <a:off x="8745177" y="380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a:t>
            </a:r>
          </a:p>
        </p:txBody>
      </p:sp>
      <p:sp>
        <p:nvSpPr>
          <p:cNvPr id="560" name="tbl_r5_c7"/>
          <p:cNvSpPr txBox="1"/>
          <p:nvPr/>
        </p:nvSpPr>
        <p:spPr>
          <a:xfrm>
            <a:off x="10352245" y="3808880"/>
            <a:ext cx="1562068" cy="460000"/>
          </a:xfrm>
          <a:prstGeom prst="rect">
            <a:avLst/>
          </a:prstGeom>
          <a:no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n-US" sz="1200" b="0" i="0" u="none" strike="noStrike" cap="none">
                <a:solidFill>
                  <a:srgbClr val="222222"/>
                </a:solidFill>
                <a:latin typeface="Calibri"/>
                <a:ea typeface="Calibri"/>
                <a:cs typeface="Calibri"/>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28"/>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0" name="Google Shape;400;p28"/>
          <p:cNvSpPr txBox="1"/>
          <p:nvPr/>
        </p:nvSpPr>
        <p:spPr>
          <a:xfrm>
            <a:off x="274320" y="91440"/>
            <a:ext cx="11430000" cy="9234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2800" b="1">
                <a:solidFill>
                  <a:schemeClr val="lt1"/>
                </a:solidFill>
                <a:latin typeface="Calibri"/>
                <a:ea typeface="Calibri"/>
                <a:cs typeface="Calibri"/>
                <a:sym typeface="Calibri"/>
              </a:rPr>
              <a:t>Model Architectures (4 Models)</a:t>
            </a:r>
            <a:endParaRPr>
              <a:solidFill>
                <a:schemeClr val="dk1"/>
              </a:solidFill>
            </a:endParaRPr>
          </a:p>
          <a:p>
            <a:pPr marL="0" marR="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401" name="Google Shape;401;p28"/>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2" name="Google Shape;402;p28"/>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pic>
        <p:nvPicPr>
          <p:cNvPr id="403" name="Google Shape;403;p28"/>
          <p:cNvPicPr preferRelativeResize="0"/>
          <p:nvPr/>
        </p:nvPicPr>
        <p:blipFill>
          <a:blip r:embed="rId3">
            <a:alphaModFix/>
          </a:blip>
          <a:stretch>
            <a:fillRect/>
          </a:stretch>
        </p:blipFill>
        <p:spPr>
          <a:xfrm>
            <a:off x="152400" y="1175717"/>
            <a:ext cx="9003624" cy="51725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29"/>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9" name="Google Shape;409;p29"/>
          <p:cNvSpPr txBox="1"/>
          <p:nvPr/>
        </p:nvSpPr>
        <p:spPr>
          <a:xfrm>
            <a:off x="274320" y="91440"/>
            <a:ext cx="11430000" cy="9234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2800" b="1">
                <a:solidFill>
                  <a:schemeClr val="lt1"/>
                </a:solidFill>
                <a:latin typeface="Calibri"/>
                <a:ea typeface="Calibri"/>
                <a:cs typeface="Calibri"/>
                <a:sym typeface="Calibri"/>
              </a:rPr>
              <a:t>Model Architectures (4 Models)</a:t>
            </a:r>
            <a:endParaRPr>
              <a:solidFill>
                <a:schemeClr val="dk1"/>
              </a:solidFill>
            </a:endParaRPr>
          </a:p>
          <a:p>
            <a:pPr marL="0" marR="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410" name="Google Shape;410;p29"/>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1" name="Google Shape;411;p29"/>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pic>
        <p:nvPicPr>
          <p:cNvPr id="3" name="Picture 2">
            <a:extLst>
              <a:ext uri="{FF2B5EF4-FFF2-40B4-BE49-F238E27FC236}">
                <a16:creationId xmlns:a16="http://schemas.microsoft.com/office/drawing/2014/main" id="{4A94BB7C-9143-4812-AF7E-23C7C175D867}"/>
              </a:ext>
            </a:extLst>
          </p:cNvPr>
          <p:cNvPicPr>
            <a:picLocks noChangeAspect="1"/>
          </p:cNvPicPr>
          <p:nvPr/>
        </p:nvPicPr>
        <p:blipFill>
          <a:blip r:embed="rId3"/>
          <a:stretch>
            <a:fillRect/>
          </a:stretch>
        </p:blipFill>
        <p:spPr>
          <a:xfrm>
            <a:off x="1248955" y="1106280"/>
            <a:ext cx="9480730" cy="517130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p30"/>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8" name="Google Shape;418;p30"/>
          <p:cNvSpPr txBox="1"/>
          <p:nvPr/>
        </p:nvSpPr>
        <p:spPr>
          <a:xfrm>
            <a:off x="274320" y="91440"/>
            <a:ext cx="11430000" cy="9234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2800" b="1">
                <a:solidFill>
                  <a:schemeClr val="lt1"/>
                </a:solidFill>
                <a:latin typeface="Calibri"/>
                <a:ea typeface="Calibri"/>
                <a:cs typeface="Calibri"/>
                <a:sym typeface="Calibri"/>
              </a:rPr>
              <a:t>Model Architectures (4 Models)</a:t>
            </a:r>
            <a:endParaRPr>
              <a:solidFill>
                <a:schemeClr val="dk1"/>
              </a:solidFill>
            </a:endParaRPr>
          </a:p>
          <a:p>
            <a:pPr marL="0" marR="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419" name="Google Shape;419;p30"/>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0" name="Google Shape;420;p30"/>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pic>
        <p:nvPicPr>
          <p:cNvPr id="421" name="Google Shape;421;p30"/>
          <p:cNvPicPr preferRelativeResize="0"/>
          <p:nvPr/>
        </p:nvPicPr>
        <p:blipFill>
          <a:blip r:embed="rId3">
            <a:alphaModFix/>
          </a:blip>
          <a:stretch>
            <a:fillRect/>
          </a:stretch>
        </p:blipFill>
        <p:spPr>
          <a:xfrm>
            <a:off x="152400" y="1167255"/>
            <a:ext cx="11884150" cy="45718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1"/>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7" name="Google Shape;427;p31"/>
          <p:cNvSpPr txBox="1"/>
          <p:nvPr/>
        </p:nvSpPr>
        <p:spPr>
          <a:xfrm>
            <a:off x="274320" y="91440"/>
            <a:ext cx="11430000" cy="9234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2800" b="1">
                <a:solidFill>
                  <a:schemeClr val="lt1"/>
                </a:solidFill>
                <a:latin typeface="Calibri"/>
                <a:ea typeface="Calibri"/>
                <a:cs typeface="Calibri"/>
                <a:sym typeface="Calibri"/>
              </a:rPr>
              <a:t>Model Architectures (4 Models)</a:t>
            </a:r>
            <a:endParaRPr>
              <a:solidFill>
                <a:schemeClr val="dk1"/>
              </a:solidFill>
            </a:endParaRPr>
          </a:p>
          <a:p>
            <a:pPr marL="0" marR="0" lvl="0" indent="0" algn="l" rtl="0">
              <a:spcBef>
                <a:spcPts val="0"/>
              </a:spcBef>
              <a:spcAft>
                <a:spcPts val="0"/>
              </a:spcAft>
              <a:buNone/>
            </a:pPr>
            <a:endParaRPr sz="2600" b="1">
              <a:solidFill>
                <a:srgbClr val="FFFFFF"/>
              </a:solidFill>
              <a:latin typeface="Calibri"/>
              <a:ea typeface="Calibri"/>
              <a:cs typeface="Calibri"/>
              <a:sym typeface="Calibri"/>
            </a:endParaRPr>
          </a:p>
        </p:txBody>
      </p:sp>
      <p:sp>
        <p:nvSpPr>
          <p:cNvPr id="428" name="Google Shape;428;p31"/>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9" name="Google Shape;429;p31"/>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pic>
        <p:nvPicPr>
          <p:cNvPr id="430" name="Google Shape;430;p31"/>
          <p:cNvPicPr preferRelativeResize="0"/>
          <p:nvPr/>
        </p:nvPicPr>
        <p:blipFill>
          <a:blip r:embed="rId3">
            <a:alphaModFix/>
          </a:blip>
          <a:stretch>
            <a:fillRect/>
          </a:stretch>
        </p:blipFill>
        <p:spPr>
          <a:xfrm>
            <a:off x="152400" y="1167240"/>
            <a:ext cx="8701195" cy="5172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2"/>
          <p:cNvSpPr/>
          <p:nvPr/>
        </p:nvSpPr>
        <p:spPr>
          <a:xfrm>
            <a:off x="0" y="0"/>
            <a:ext cx="12188952" cy="100584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6" name="Google Shape;436;p32"/>
          <p:cNvSpPr txBox="1"/>
          <p:nvPr/>
        </p:nvSpPr>
        <p:spPr>
          <a:xfrm>
            <a:off x="274320" y="91440"/>
            <a:ext cx="11430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Calibri"/>
                <a:ea typeface="Calibri"/>
                <a:cs typeface="Calibri"/>
                <a:sym typeface="Calibri"/>
              </a:rPr>
              <a:t>Analysis &amp; Discussion</a:t>
            </a:r>
            <a:endParaRPr/>
          </a:p>
        </p:txBody>
      </p:sp>
      <p:sp>
        <p:nvSpPr>
          <p:cNvPr id="437" name="Google Shape;437;p32"/>
          <p:cNvSpPr/>
          <p:nvPr/>
        </p:nvSpPr>
        <p:spPr>
          <a:xfrm>
            <a:off x="0" y="1005840"/>
            <a:ext cx="12188952" cy="5852160"/>
          </a:xfrm>
          <a:prstGeom prst="rect">
            <a:avLst/>
          </a:prstGeom>
          <a:solidFill>
            <a:srgbClr val="F2F2F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8" name="Google Shape;438;p32"/>
          <p:cNvSpPr/>
          <p:nvPr/>
        </p:nvSpPr>
        <p:spPr>
          <a:xfrm>
            <a:off x="0" y="6492240"/>
            <a:ext cx="12188952" cy="3657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9" name="Google Shape;439;p32"/>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sp>
        <p:nvSpPr>
          <p:cNvPr id="600" name="card_bg_600"/>
          <p:cNvSpPr/>
          <p:nvPr/>
        </p:nvSpPr>
        <p:spPr>
          <a:xfrm>
            <a:off x="274320" y="1097280"/>
            <a:ext cx="11640312" cy="1005840"/>
          </a:xfrm>
          <a:prstGeom prst="rect">
            <a:avLst/>
          </a:prstGeom>
          <a:solidFill>
            <a:srgbClr val="FFFFFF"/>
          </a:solidFill>
          <a:ln w="12700" cap="flat" cmpd="sng">
            <a:solidFill>
              <a:srgbClr val="008B8B"/>
            </a:solidFill>
            <a:prstDash val="solid"/>
            <a:round/>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a:p>
        </p:txBody>
      </p:sp>
      <p:sp>
        <p:nvSpPr>
          <p:cNvPr id="601" name="text_601"/>
          <p:cNvSpPr txBox="1"/>
          <p:nvPr/>
        </p:nvSpPr>
        <p:spPr>
          <a:xfrm>
            <a:off x="457200" y="1133856"/>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300" b="1" u="none" strike="noStrike" cap="none">
                <a:solidFill>
                  <a:srgbClr val="1A234E"/>
                </a:solidFill>
                <a:latin typeface="Calibri"/>
              </a:rPr>
              <a:t>Performance Leader</a:t>
            </a:r>
          </a:p>
        </p:txBody>
      </p:sp>
      <p:sp>
        <p:nvSpPr>
          <p:cNvPr id="602" name="text_602"/>
          <p:cNvSpPr txBox="1"/>
          <p:nvPr/>
        </p:nvSpPr>
        <p:spPr>
          <a:xfrm>
            <a:off x="457200" y="1456531"/>
            <a:ext cx="11247000" cy="295425"/>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100" b="0" u="none" strike="noStrike" cap="none" dirty="0">
                <a:solidFill>
                  <a:schemeClr val="dk1"/>
                </a:solidFill>
                <a:latin typeface="Calibri"/>
              </a:rPr>
              <a:t>Attention U-Net achieved the highest overall performance with peak Hyper-Tuned DSC of </a:t>
            </a:r>
            <a:r>
              <a:rPr lang="en-US" sz="1100" b="1" u="none" strike="noStrike" cap="none" dirty="0">
                <a:solidFill>
                  <a:schemeClr val="dk1"/>
                </a:solidFill>
                <a:latin typeface="Calibri"/>
              </a:rPr>
              <a:t>0.9204</a:t>
            </a:r>
            <a:r>
              <a:rPr lang="en-US" sz="1100" b="0" u="none" strike="noStrike" cap="none" dirty="0">
                <a:solidFill>
                  <a:schemeClr val="dk1"/>
                </a:solidFill>
                <a:latin typeface="Calibri"/>
              </a:rPr>
              <a:t>, final Test DSC of 0.8816, and best clinical Sensitivity (0.9743) on the test set.</a:t>
            </a:r>
          </a:p>
        </p:txBody>
      </p:sp>
      <p:sp>
        <p:nvSpPr>
          <p:cNvPr id="603" name="card_bg_603"/>
          <p:cNvSpPr/>
          <p:nvPr/>
        </p:nvSpPr>
        <p:spPr>
          <a:xfrm>
            <a:off x="274320" y="2194560"/>
            <a:ext cx="11640312" cy="1005840"/>
          </a:xfrm>
          <a:prstGeom prst="rect">
            <a:avLst/>
          </a:prstGeom>
          <a:solidFill>
            <a:srgbClr val="FFFFFF"/>
          </a:solidFill>
          <a:ln w="12700" cap="flat" cmpd="sng">
            <a:solidFill>
              <a:srgbClr val="008B8B"/>
            </a:solidFill>
            <a:prstDash val="solid"/>
            <a:round/>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a:p>
        </p:txBody>
      </p:sp>
      <p:sp>
        <p:nvSpPr>
          <p:cNvPr id="604" name="text_604"/>
          <p:cNvSpPr txBox="1"/>
          <p:nvPr/>
        </p:nvSpPr>
        <p:spPr>
          <a:xfrm>
            <a:off x="457200" y="2231136"/>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300" b="1" u="none" strike="noStrike" cap="none">
                <a:solidFill>
                  <a:srgbClr val="1A234E"/>
                </a:solidFill>
                <a:latin typeface="Calibri"/>
              </a:rPr>
              <a:t>Hyper-Tuning Success</a:t>
            </a:r>
          </a:p>
        </p:txBody>
      </p:sp>
      <p:sp>
        <p:nvSpPr>
          <p:cNvPr id="605" name="text_605"/>
          <p:cNvSpPr txBox="1"/>
          <p:nvPr/>
        </p:nvSpPr>
        <p:spPr>
          <a:xfrm>
            <a:off x="457200" y="2553811"/>
            <a:ext cx="11247000" cy="295425"/>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100" b="0" u="none" strike="noStrike" cap="none" dirty="0">
                <a:solidFill>
                  <a:schemeClr val="dk1"/>
                </a:solidFill>
                <a:latin typeface="Calibri"/>
              </a:rPr>
              <a:t>Hyper-parameter tuning pushed Attention U-Net to a validation DSC of 0.9204, with strong stability on the final test set (0.8816), confirming the model </a:t>
            </a:r>
            <a:r>
              <a:rPr lang="en-US" sz="1100" b="0" u="none" strike="noStrike" cap="none" dirty="0" err="1">
                <a:solidFill>
                  <a:schemeClr val="dk1"/>
                </a:solidFill>
                <a:latin typeface="Calibri"/>
              </a:rPr>
              <a:t>generalises</a:t>
            </a:r>
            <a:r>
              <a:rPr lang="en-US" sz="1100" b="0" u="none" strike="noStrike" cap="none" dirty="0">
                <a:solidFill>
                  <a:schemeClr val="dk1"/>
                </a:solidFill>
                <a:latin typeface="Calibri"/>
              </a:rPr>
              <a:t> well.</a:t>
            </a:r>
          </a:p>
        </p:txBody>
      </p:sp>
      <p:sp>
        <p:nvSpPr>
          <p:cNvPr id="606" name="card_bg_606"/>
          <p:cNvSpPr/>
          <p:nvPr/>
        </p:nvSpPr>
        <p:spPr>
          <a:xfrm>
            <a:off x="274320" y="3291840"/>
            <a:ext cx="11640312" cy="1005840"/>
          </a:xfrm>
          <a:prstGeom prst="rect">
            <a:avLst/>
          </a:prstGeom>
          <a:solidFill>
            <a:srgbClr val="FFFFFF"/>
          </a:solidFill>
          <a:ln w="12700" cap="flat" cmpd="sng">
            <a:solidFill>
              <a:srgbClr val="008B8B"/>
            </a:solidFill>
            <a:prstDash val="solid"/>
            <a:round/>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a:p>
        </p:txBody>
      </p:sp>
      <p:sp>
        <p:nvSpPr>
          <p:cNvPr id="607" name="text_607"/>
          <p:cNvSpPr txBox="1"/>
          <p:nvPr/>
        </p:nvSpPr>
        <p:spPr>
          <a:xfrm>
            <a:off x="457200" y="3328416"/>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300" b="1" u="none" strike="noStrike" cap="none">
                <a:solidFill>
                  <a:srgbClr val="1A234E"/>
                </a:solidFill>
                <a:latin typeface="Calibri"/>
              </a:rPr>
              <a:t>Boundary Accuracy</a:t>
            </a:r>
          </a:p>
        </p:txBody>
      </p:sp>
      <p:sp>
        <p:nvSpPr>
          <p:cNvPr id="608" name="text_608"/>
          <p:cNvSpPr txBox="1"/>
          <p:nvPr/>
        </p:nvSpPr>
        <p:spPr>
          <a:xfrm>
            <a:off x="457200" y="3651091"/>
            <a:ext cx="11247000" cy="498558"/>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100" b="0" u="none" strike="noStrike" cap="none" dirty="0">
                <a:solidFill>
                  <a:schemeClr val="dk1"/>
                </a:solidFill>
                <a:latin typeface="Calibri"/>
              </a:rPr>
              <a:t>While Attention U-Net leads in overlap, the standard U-Net achieves the tightest contour with HD = 2.22 px and a Test DSC of 0.8931, making it a robust baseline when geometric precision is </a:t>
            </a:r>
            <a:r>
              <a:rPr lang="en-US" sz="1100" b="0" u="none" strike="noStrike" cap="none" dirty="0" err="1">
                <a:solidFill>
                  <a:schemeClr val="dk1"/>
                </a:solidFill>
                <a:latin typeface="Calibri"/>
              </a:rPr>
              <a:t>prioritised</a:t>
            </a:r>
            <a:r>
              <a:rPr lang="en-US" sz="1100" b="0" u="none" strike="noStrike" cap="none" dirty="0">
                <a:solidFill>
                  <a:schemeClr val="dk1"/>
                </a:solidFill>
                <a:latin typeface="Calibri"/>
              </a:rPr>
              <a:t>.</a:t>
            </a:r>
          </a:p>
        </p:txBody>
      </p:sp>
      <p:sp>
        <p:nvSpPr>
          <p:cNvPr id="609" name="card_bg_609"/>
          <p:cNvSpPr/>
          <p:nvPr/>
        </p:nvSpPr>
        <p:spPr>
          <a:xfrm>
            <a:off x="274320" y="4389120"/>
            <a:ext cx="11640312" cy="1005840"/>
          </a:xfrm>
          <a:prstGeom prst="rect">
            <a:avLst/>
          </a:prstGeom>
          <a:solidFill>
            <a:srgbClr val="FFFFFF"/>
          </a:solidFill>
          <a:ln w="12700" cap="flat" cmpd="sng">
            <a:solidFill>
              <a:srgbClr val="008B8B"/>
            </a:solidFill>
            <a:prstDash val="solid"/>
            <a:round/>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a:p>
        </p:txBody>
      </p:sp>
      <p:sp>
        <p:nvSpPr>
          <p:cNvPr id="610" name="text_610"/>
          <p:cNvSpPr txBox="1"/>
          <p:nvPr/>
        </p:nvSpPr>
        <p:spPr>
          <a:xfrm>
            <a:off x="457200" y="4425696"/>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300" b="1" u="none" strike="noStrike" cap="none">
                <a:solidFill>
                  <a:srgbClr val="1A234E"/>
                </a:solidFill>
                <a:latin typeface="Calibri"/>
              </a:rPr>
              <a:t>Threshold Benchmarking</a:t>
            </a:r>
          </a:p>
        </p:txBody>
      </p:sp>
      <p:sp>
        <p:nvSpPr>
          <p:cNvPr id="611" name="text_611"/>
          <p:cNvSpPr txBox="1"/>
          <p:nvPr/>
        </p:nvSpPr>
        <p:spPr>
          <a:xfrm>
            <a:off x="457200" y="4748371"/>
            <a:ext cx="11247000" cy="626589"/>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100" b="0" u="none" strike="noStrike" cap="none">
                <a:solidFill>
                  <a:schemeClr val="dk1"/>
                </a:solidFill>
                <a:latin typeface="Calibri"/>
              </a:rPr>
              <a:t>U-Net achieves best HD = 2.22 px (tightest boundary) while Attention U-Net leads on DSC. Skip connections + bilinear decoder precision favour U-Net for geometric accuracy.</a:t>
            </a:r>
          </a:p>
        </p:txBody>
      </p:sp>
      <p:sp>
        <p:nvSpPr>
          <p:cNvPr id="612" name="card_bg_612"/>
          <p:cNvSpPr/>
          <p:nvPr/>
        </p:nvSpPr>
        <p:spPr>
          <a:xfrm>
            <a:off x="274320" y="5486400"/>
            <a:ext cx="11640312" cy="1005840"/>
          </a:xfrm>
          <a:prstGeom prst="rect">
            <a:avLst/>
          </a:prstGeom>
          <a:solidFill>
            <a:srgbClr val="FFFFFF"/>
          </a:solidFill>
          <a:ln w="12700" cap="flat" cmpd="sng">
            <a:solidFill>
              <a:srgbClr val="008B8B"/>
            </a:solidFill>
            <a:prstDash val="solid"/>
            <a:round/>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a:p>
        </p:txBody>
      </p:sp>
      <p:sp>
        <p:nvSpPr>
          <p:cNvPr id="613" name="text_613"/>
          <p:cNvSpPr txBox="1"/>
          <p:nvPr/>
        </p:nvSpPr>
        <p:spPr>
          <a:xfrm>
            <a:off x="457200" y="5522976"/>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300" b="1" u="none" strike="noStrike" cap="none">
                <a:solidFill>
                  <a:srgbClr val="1A234E"/>
                </a:solidFill>
                <a:latin typeface="Calibri"/>
              </a:rPr>
              <a:t>Clinical Threshold: 3 of 4 Models</a:t>
            </a:r>
          </a:p>
        </p:txBody>
      </p:sp>
      <p:sp>
        <p:nvSpPr>
          <p:cNvPr id="614" name="text_614"/>
          <p:cNvSpPr txBox="1"/>
          <p:nvPr/>
        </p:nvSpPr>
        <p:spPr>
          <a:xfrm>
            <a:off x="457200" y="5845651"/>
            <a:ext cx="11247000" cy="626589"/>
          </a:xfrm>
          <a:prstGeom prst="rect">
            <a:avLst/>
          </a:prstGeom>
          <a:noFill/>
          <a:ln>
            <a:noFill/>
          </a:ln>
        </p:spPr>
        <p:txBody>
          <a:bodyPr spcFirstLastPara="1" wrap="square" lIns="91425" tIns="45700" rIns="91425" bIns="45700" anchor="t" anchorCtr="0">
            <a:spAutoFit/>
          </a:bodyPr>
          <a:lstStyle/>
          <a:p>
            <a:pPr marL="0" marR="0" lvl="0" indent="0" algn="l" rtl="0">
              <a:lnSpc>
                <a:spcPct val="120000"/>
              </a:lnSpc>
              <a:spcBef>
                <a:spcPts val="0"/>
              </a:spcBef>
              <a:spcAft>
                <a:spcPts val="0"/>
              </a:spcAft>
              <a:buNone/>
            </a:pPr>
            <a:r>
              <a:rPr lang="en-US" sz="1100" b="0" u="none" strike="noStrike" cap="none">
                <a:solidFill>
                  <a:schemeClr val="dk1"/>
                </a:solidFill>
                <a:latin typeface="Calibri"/>
              </a:rPr>
              <a:t>Attention U-Net, U-Net, and ViTSeg all exceed DSC ≥ 0.80. Normal CNN (0.7928) narrowly misses — skip connections appear necessary to consistently reach the clinical threshold on this 70×70 SPECT dataset.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p33"/>
          <p:cNvSpPr/>
          <p:nvPr/>
        </p:nvSpPr>
        <p:spPr>
          <a:xfrm>
            <a:off x="0" y="0"/>
            <a:ext cx="12189000" cy="10059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0" name="Google Shape;460;p33"/>
          <p:cNvSpPr txBox="1"/>
          <p:nvPr/>
        </p:nvSpPr>
        <p:spPr>
          <a:xfrm>
            <a:off x="274320" y="91440"/>
            <a:ext cx="11430000" cy="5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a:solidFill>
                  <a:srgbClr val="FFFFFF"/>
                </a:solidFill>
                <a:latin typeface="Calibri"/>
                <a:ea typeface="Calibri"/>
                <a:cs typeface="Calibri"/>
                <a:sym typeface="Calibri"/>
              </a:rPr>
              <a:t>Summary </a:t>
            </a:r>
            <a:r>
              <a:rPr lang="en-US" sz="3000" b="1" i="0" u="none" strike="noStrike" cap="none">
                <a:solidFill>
                  <a:srgbClr val="FFFFFF"/>
                </a:solidFill>
                <a:latin typeface="Calibri"/>
                <a:ea typeface="Calibri"/>
                <a:cs typeface="Calibri"/>
                <a:sym typeface="Calibri"/>
              </a:rPr>
              <a:t>&amp; </a:t>
            </a:r>
            <a:r>
              <a:rPr lang="en-US" sz="3000" b="1">
                <a:solidFill>
                  <a:srgbClr val="FFFFFF"/>
                </a:solidFill>
                <a:latin typeface="Calibri"/>
                <a:ea typeface="Calibri"/>
                <a:cs typeface="Calibri"/>
                <a:sym typeface="Calibri"/>
              </a:rPr>
              <a:t>Future work</a:t>
            </a:r>
            <a:endParaRPr/>
          </a:p>
        </p:txBody>
      </p:sp>
      <p:sp>
        <p:nvSpPr>
          <p:cNvPr id="461" name="Google Shape;461;p33"/>
          <p:cNvSpPr/>
          <p:nvPr/>
        </p:nvSpPr>
        <p:spPr>
          <a:xfrm>
            <a:off x="0" y="1023093"/>
            <a:ext cx="12189000" cy="5852100"/>
          </a:xfrm>
          <a:prstGeom prst="rect">
            <a:avLst/>
          </a:prstGeom>
          <a:solidFill>
            <a:srgbClr val="F2F2F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2" name="Google Shape;462;p33"/>
          <p:cNvSpPr/>
          <p:nvPr/>
        </p:nvSpPr>
        <p:spPr>
          <a:xfrm>
            <a:off x="0" y="6492240"/>
            <a:ext cx="12189000" cy="365700"/>
          </a:xfrm>
          <a:prstGeom prst="rect">
            <a:avLst/>
          </a:prstGeom>
          <a:solidFill>
            <a:srgbClr val="1A234E"/>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3" name="Google Shape;463;p33"/>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sp>
        <p:nvSpPr>
          <p:cNvPr id="800" name="card_bg_800"/>
          <p:cNvSpPr/>
          <p:nvPr/>
        </p:nvSpPr>
        <p:spPr>
          <a:xfrm>
            <a:off x="274320" y="1097280"/>
            <a:ext cx="11640312" cy="83820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b="0" i="0" u="none" strike="noStrike" cap="none">
              <a:solidFill>
                <a:schemeClr val="dk1"/>
              </a:solidFill>
              <a:latin typeface="Calibri"/>
            </a:endParaRPr>
          </a:p>
        </p:txBody>
      </p:sp>
      <p:sp>
        <p:nvSpPr>
          <p:cNvPr id="801" name="title_801"/>
          <p:cNvSpPr txBox="1"/>
          <p:nvPr/>
        </p:nvSpPr>
        <p:spPr>
          <a:xfrm>
            <a:off x="457200" y="1133856"/>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300" b="1" i="0" u="none" strike="noStrike" cap="none">
                <a:solidFill>
                  <a:srgbClr val="1A234E"/>
                </a:solidFill>
                <a:latin typeface="Calibri"/>
                <a:ea typeface="Calibri"/>
                <a:cs typeface="Calibri"/>
              </a:rPr>
              <a:t>Top Performance &amp; Efficiency</a:t>
            </a:r>
          </a:p>
        </p:txBody>
      </p:sp>
      <p:sp>
        <p:nvSpPr>
          <p:cNvPr id="802" name="body_802"/>
          <p:cNvSpPr txBox="1"/>
          <p:nvPr/>
        </p:nvSpPr>
        <p:spPr>
          <a:xfrm>
            <a:off x="457200" y="1486356"/>
            <a:ext cx="11247000" cy="48163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100" b="0" i="0" u="none" strike="noStrike" cap="none" dirty="0">
                <a:solidFill>
                  <a:schemeClr val="dk1"/>
                </a:solidFill>
                <a:latin typeface="Calibri"/>
                <a:ea typeface="Calibri"/>
                <a:cs typeface="Calibri"/>
              </a:rPr>
              <a:t>Attention U-Net achieved peak Hyper-Tuned DSC of 0.9204 and final Test DSC of 0.8816, with best clinical Sensitivity (0.9743) — using only ~25% of the parameters (490,914 vs 1,942,289) at just 15.01 </a:t>
            </a:r>
            <a:r>
              <a:rPr lang="en-US" sz="1100" b="0" i="0" u="none" strike="noStrike" cap="none" dirty="0" err="1">
                <a:solidFill>
                  <a:schemeClr val="dk1"/>
                </a:solidFill>
                <a:latin typeface="Calibri"/>
                <a:ea typeface="Calibri"/>
                <a:cs typeface="Calibri"/>
              </a:rPr>
              <a:t>ms</a:t>
            </a:r>
            <a:r>
              <a:rPr lang="en-US" sz="1100" b="0" i="0" u="none" strike="noStrike" cap="none" dirty="0">
                <a:solidFill>
                  <a:schemeClr val="dk1"/>
                </a:solidFill>
                <a:latin typeface="Calibri"/>
                <a:ea typeface="Calibri"/>
                <a:cs typeface="Calibri"/>
              </a:rPr>
              <a:t>/slice.</a:t>
            </a:r>
          </a:p>
        </p:txBody>
      </p:sp>
      <p:sp>
        <p:nvSpPr>
          <p:cNvPr id="803" name="card_bg_803"/>
          <p:cNvSpPr/>
          <p:nvPr/>
        </p:nvSpPr>
        <p:spPr>
          <a:xfrm>
            <a:off x="274320" y="2008632"/>
            <a:ext cx="11640312" cy="83820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b="0" i="0" u="none" strike="noStrike" cap="none">
              <a:solidFill>
                <a:schemeClr val="dk1"/>
              </a:solidFill>
              <a:latin typeface="Calibri"/>
            </a:endParaRPr>
          </a:p>
        </p:txBody>
      </p:sp>
      <p:sp>
        <p:nvSpPr>
          <p:cNvPr id="804" name="title_804"/>
          <p:cNvSpPr txBox="1"/>
          <p:nvPr/>
        </p:nvSpPr>
        <p:spPr>
          <a:xfrm>
            <a:off x="457200" y="2045208"/>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300" b="1" i="0" u="none" strike="noStrike" cap="none">
                <a:solidFill>
                  <a:srgbClr val="1A234E"/>
                </a:solidFill>
                <a:latin typeface="Calibri"/>
                <a:ea typeface="Calibri"/>
                <a:cs typeface="Calibri"/>
              </a:rPr>
              <a:t>Boundary Accuracy</a:t>
            </a:r>
          </a:p>
        </p:txBody>
      </p:sp>
      <p:sp>
        <p:nvSpPr>
          <p:cNvPr id="805" name="body_805"/>
          <p:cNvSpPr txBox="1"/>
          <p:nvPr/>
        </p:nvSpPr>
        <p:spPr>
          <a:xfrm>
            <a:off x="457200" y="2397708"/>
            <a:ext cx="11247000" cy="286961"/>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100" b="0" i="0" u="none" strike="noStrike" cap="none" dirty="0">
                <a:solidFill>
                  <a:schemeClr val="dk1"/>
                </a:solidFill>
                <a:latin typeface="Calibri"/>
                <a:ea typeface="Calibri"/>
                <a:cs typeface="Calibri"/>
              </a:rPr>
              <a:t>Standard U-Net achieves the tightest contour with HD = 2.22 px (Test DSC 0.8931), remaining a robust baseline when geometric precision is </a:t>
            </a:r>
            <a:r>
              <a:rPr lang="en-US" sz="1100" b="0" i="0" u="none" strike="noStrike" cap="none" dirty="0" err="1">
                <a:solidFill>
                  <a:schemeClr val="dk1"/>
                </a:solidFill>
                <a:latin typeface="Calibri"/>
                <a:ea typeface="Calibri"/>
                <a:cs typeface="Calibri"/>
              </a:rPr>
              <a:t>prioritised</a:t>
            </a:r>
            <a:r>
              <a:rPr lang="en-US" sz="1100" b="0" i="0" u="none" strike="noStrike" cap="none" dirty="0">
                <a:solidFill>
                  <a:schemeClr val="dk1"/>
                </a:solidFill>
                <a:latin typeface="Calibri"/>
                <a:ea typeface="Calibri"/>
                <a:cs typeface="Calibri"/>
              </a:rPr>
              <a:t>.</a:t>
            </a:r>
          </a:p>
        </p:txBody>
      </p:sp>
      <p:sp>
        <p:nvSpPr>
          <p:cNvPr id="806" name="card_bg_806"/>
          <p:cNvSpPr/>
          <p:nvPr/>
        </p:nvSpPr>
        <p:spPr>
          <a:xfrm>
            <a:off x="274320" y="2919984"/>
            <a:ext cx="11640312" cy="83820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b="0" i="0" u="none" strike="noStrike" cap="none">
              <a:solidFill>
                <a:schemeClr val="dk1"/>
              </a:solidFill>
              <a:latin typeface="Calibri"/>
            </a:endParaRPr>
          </a:p>
        </p:txBody>
      </p:sp>
      <p:sp>
        <p:nvSpPr>
          <p:cNvPr id="807" name="title_807"/>
          <p:cNvSpPr txBox="1"/>
          <p:nvPr/>
        </p:nvSpPr>
        <p:spPr>
          <a:xfrm>
            <a:off x="457200" y="2956560"/>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300" b="1" i="0" u="none" strike="noStrike" cap="none">
                <a:solidFill>
                  <a:srgbClr val="1A234E"/>
                </a:solidFill>
                <a:latin typeface="Calibri"/>
                <a:ea typeface="Calibri"/>
                <a:cs typeface="Calibri"/>
              </a:rPr>
              <a:t>Clinical Threshold</a:t>
            </a:r>
          </a:p>
        </p:txBody>
      </p:sp>
      <p:sp>
        <p:nvSpPr>
          <p:cNvPr id="808" name="body_808"/>
          <p:cNvSpPr txBox="1"/>
          <p:nvPr/>
        </p:nvSpPr>
        <p:spPr>
          <a:xfrm>
            <a:off x="457200" y="3309060"/>
            <a:ext cx="11247000" cy="41912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100" b="0" i="0" u="none" strike="noStrike" cap="none">
                <a:solidFill>
                  <a:schemeClr val="dk1"/>
                </a:solidFill>
                <a:latin typeface="Calibri"/>
                <a:ea typeface="Calibri"/>
                <a:cs typeface="Calibri"/>
              </a:rPr>
              <a:t>3 of 4 models (Attention U-Net, U-Net, ViTSeg) exceed DSC ≥ 0.80. Normal CNN (0.7928) narrowly misses — skip connections appear necessary on this 70×70 SPECT dataset.</a:t>
            </a:r>
          </a:p>
        </p:txBody>
      </p:sp>
      <p:sp>
        <p:nvSpPr>
          <p:cNvPr id="809" name="card_bg_809"/>
          <p:cNvSpPr/>
          <p:nvPr/>
        </p:nvSpPr>
        <p:spPr>
          <a:xfrm>
            <a:off x="274320" y="3831336"/>
            <a:ext cx="11640312" cy="83820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b="0" i="0" u="none" strike="noStrike" cap="none">
              <a:solidFill>
                <a:schemeClr val="dk1"/>
              </a:solidFill>
              <a:latin typeface="Calibri"/>
            </a:endParaRPr>
          </a:p>
        </p:txBody>
      </p:sp>
      <p:sp>
        <p:nvSpPr>
          <p:cNvPr id="810" name="title_810"/>
          <p:cNvSpPr txBox="1"/>
          <p:nvPr/>
        </p:nvSpPr>
        <p:spPr>
          <a:xfrm>
            <a:off x="457200" y="3867912"/>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300" b="1" i="0" u="none" strike="noStrike" cap="none">
                <a:solidFill>
                  <a:srgbClr val="1A234E"/>
                </a:solidFill>
                <a:latin typeface="Calibri"/>
                <a:ea typeface="Calibri"/>
                <a:cs typeface="Calibri"/>
              </a:rPr>
              <a:t>Future Work — 3D Volumetric U-Net</a:t>
            </a:r>
          </a:p>
        </p:txBody>
      </p:sp>
      <p:sp>
        <p:nvSpPr>
          <p:cNvPr id="811" name="body_811"/>
          <p:cNvSpPr txBox="1"/>
          <p:nvPr/>
        </p:nvSpPr>
        <p:spPr>
          <a:xfrm>
            <a:off x="457200" y="4220412"/>
            <a:ext cx="11247000" cy="41912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100" b="0" i="0" u="none" strike="noStrike" cap="none">
                <a:solidFill>
                  <a:schemeClr val="dk1"/>
                </a:solidFill>
                <a:latin typeface="Calibri"/>
                <a:ea typeface="Calibri"/>
                <a:cs typeface="Calibri"/>
              </a:rPr>
              <a:t>Transition from 2D slice segmentation to 3D convolution kernels to exploit inter-slice spatial context and volumetric continuity.</a:t>
            </a:r>
          </a:p>
        </p:txBody>
      </p:sp>
      <p:sp>
        <p:nvSpPr>
          <p:cNvPr id="812" name="card_bg_812"/>
          <p:cNvSpPr/>
          <p:nvPr/>
        </p:nvSpPr>
        <p:spPr>
          <a:xfrm>
            <a:off x="274320" y="4742688"/>
            <a:ext cx="11640312" cy="83820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b="0" i="0" u="none" strike="noStrike" cap="none">
              <a:solidFill>
                <a:schemeClr val="dk1"/>
              </a:solidFill>
              <a:latin typeface="Calibri"/>
            </a:endParaRPr>
          </a:p>
        </p:txBody>
      </p:sp>
      <p:sp>
        <p:nvSpPr>
          <p:cNvPr id="813" name="title_813"/>
          <p:cNvSpPr txBox="1"/>
          <p:nvPr/>
        </p:nvSpPr>
        <p:spPr>
          <a:xfrm>
            <a:off x="457200" y="4779264"/>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300" b="1" i="0" u="none" strike="noStrike" cap="none">
                <a:solidFill>
                  <a:srgbClr val="1A234E"/>
                </a:solidFill>
                <a:latin typeface="Calibri"/>
                <a:ea typeface="Calibri"/>
                <a:cs typeface="Calibri"/>
              </a:rPr>
              <a:t>Future Work — Paired Perfusion Analysis</a:t>
            </a:r>
          </a:p>
        </p:txBody>
      </p:sp>
      <p:sp>
        <p:nvSpPr>
          <p:cNvPr id="814" name="body_814"/>
          <p:cNvSpPr txBox="1"/>
          <p:nvPr/>
        </p:nvSpPr>
        <p:spPr>
          <a:xfrm>
            <a:off x="457200" y="5131764"/>
            <a:ext cx="11247000" cy="41912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100" b="0" i="0" u="none" strike="noStrike" cap="none">
                <a:solidFill>
                  <a:schemeClr val="dk1"/>
                </a:solidFill>
                <a:latin typeface="Calibri"/>
                <a:ea typeface="Calibri"/>
                <a:cs typeface="Calibri"/>
              </a:rPr>
              <a:t>Develop a dual-stream framework for stress-rest paired SPECT analysis to improve diagnostic specificity of perfusion defect detection.</a:t>
            </a:r>
          </a:p>
        </p:txBody>
      </p:sp>
      <p:sp>
        <p:nvSpPr>
          <p:cNvPr id="815" name="card_bg_815"/>
          <p:cNvSpPr/>
          <p:nvPr/>
        </p:nvSpPr>
        <p:spPr>
          <a:xfrm>
            <a:off x="274320" y="5654040"/>
            <a:ext cx="11640312" cy="838200"/>
          </a:xfrm>
          <a:prstGeom prst="rect">
            <a:avLst/>
          </a:prstGeom>
          <a:solidFill>
            <a:srgbClr val="FFFFFF"/>
          </a:solidFill>
          <a:ln w="12700" cap="flat" cmpd="sng">
            <a:solidFill>
              <a:srgbClr val="008B8B"/>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endParaRPr sz="1800" b="0" i="0" u="none" strike="noStrike" cap="none">
              <a:solidFill>
                <a:schemeClr val="dk1"/>
              </a:solidFill>
              <a:latin typeface="Calibri"/>
            </a:endParaRPr>
          </a:p>
        </p:txBody>
      </p:sp>
      <p:sp>
        <p:nvSpPr>
          <p:cNvPr id="816" name="title_816"/>
          <p:cNvSpPr txBox="1"/>
          <p:nvPr/>
        </p:nvSpPr>
        <p:spPr>
          <a:xfrm>
            <a:off x="457200" y="5690616"/>
            <a:ext cx="112470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300" b="1" i="0" u="none" strike="noStrike" cap="none">
                <a:solidFill>
                  <a:srgbClr val="1A234E"/>
                </a:solidFill>
                <a:latin typeface="Calibri"/>
                <a:ea typeface="Calibri"/>
                <a:cs typeface="Calibri"/>
              </a:rPr>
              <a:t>Future Work — Multi-site Validation</a:t>
            </a:r>
          </a:p>
        </p:txBody>
      </p:sp>
      <p:sp>
        <p:nvSpPr>
          <p:cNvPr id="817" name="body_817"/>
          <p:cNvSpPr txBox="1"/>
          <p:nvPr/>
        </p:nvSpPr>
        <p:spPr>
          <a:xfrm>
            <a:off x="457200" y="6043116"/>
            <a:ext cx="11247000" cy="419124"/>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US" sz="1100" b="0" i="0" u="none" strike="noStrike" cap="none">
                <a:solidFill>
                  <a:schemeClr val="dk1"/>
                </a:solidFill>
                <a:latin typeface="Calibri"/>
                <a:ea typeface="Calibri"/>
                <a:cs typeface="Calibri"/>
              </a:rPr>
              <a:t>Validate models on diverse multi-centre SPECT datasets to assess generalisability across scanner types and patient demographics before clinical deployment.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4"/>
          <p:cNvSpPr/>
          <p:nvPr/>
        </p:nvSpPr>
        <p:spPr>
          <a:xfrm>
            <a:off x="0" y="0"/>
            <a:ext cx="12188952" cy="100584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2" name="Google Shape;472;p34"/>
          <p:cNvSpPr txBox="1"/>
          <p:nvPr/>
        </p:nvSpPr>
        <p:spPr>
          <a:xfrm>
            <a:off x="274320" y="91440"/>
            <a:ext cx="11430000" cy="8229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000" b="1" i="0" u="none" strike="noStrike" cap="none">
                <a:solidFill>
                  <a:srgbClr val="FFFFFF"/>
                </a:solidFill>
                <a:latin typeface="Calibri"/>
                <a:ea typeface="Calibri"/>
                <a:cs typeface="Calibri"/>
                <a:sym typeface="Calibri"/>
              </a:rPr>
              <a:t>References</a:t>
            </a:r>
            <a:endParaRPr/>
          </a:p>
        </p:txBody>
      </p:sp>
      <p:sp>
        <p:nvSpPr>
          <p:cNvPr id="473" name="Google Shape;473;p34"/>
          <p:cNvSpPr/>
          <p:nvPr/>
        </p:nvSpPr>
        <p:spPr>
          <a:xfrm>
            <a:off x="0" y="1005840"/>
            <a:ext cx="12188952" cy="5852160"/>
          </a:xfrm>
          <a:prstGeom prst="rect">
            <a:avLst/>
          </a:prstGeom>
          <a:solidFill>
            <a:srgbClr val="F2F2F2"/>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4" name="Google Shape;474;p34"/>
          <p:cNvSpPr/>
          <p:nvPr/>
        </p:nvSpPr>
        <p:spPr>
          <a:xfrm>
            <a:off x="0" y="6492240"/>
            <a:ext cx="12188952" cy="365760"/>
          </a:xfrm>
          <a:prstGeom prst="rect">
            <a:avLst/>
          </a:prstGeom>
          <a:solidFill>
            <a:srgbClr val="1A234E"/>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5" name="Google Shape;475;p34"/>
          <p:cNvSpPr txBox="1"/>
          <p:nvPr/>
        </p:nvSpPr>
        <p:spPr>
          <a:xfrm>
            <a:off x="182880" y="6492240"/>
            <a:ext cx="11795700" cy="230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00" b="0" i="0" u="none" strike="noStrike" cap="none">
                <a:solidFill>
                  <a:srgbClr val="FFFFFF"/>
                </a:solidFill>
                <a:latin typeface="Calibri"/>
                <a:ea typeface="Calibri"/>
                <a:cs typeface="Calibri"/>
                <a:sym typeface="Calibri"/>
              </a:rPr>
              <a:t>|</a:t>
            </a:r>
            <a:endParaRPr/>
          </a:p>
        </p:txBody>
      </p:sp>
      <p:sp>
        <p:nvSpPr>
          <p:cNvPr id="476" name="Google Shape;476;p34"/>
          <p:cNvSpPr txBox="1"/>
          <p:nvPr/>
        </p:nvSpPr>
        <p:spPr>
          <a:xfrm>
            <a:off x="365760" y="1097280"/>
            <a:ext cx="11457432" cy="5486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[1] Ronneberger, O., Fischer, P., &amp; Brox, T. (2015). U-Net: Convolutional Networks for Biomedical Image Segmentation. MICCAI 2015. Springer, LNCS 9351, pp. 234–241.</a:t>
            </a:r>
            <a:endParaRPr/>
          </a:p>
        </p:txBody>
      </p:sp>
      <p:sp>
        <p:nvSpPr>
          <p:cNvPr id="477" name="Google Shape;477;p34"/>
          <p:cNvSpPr txBox="1"/>
          <p:nvPr/>
        </p:nvSpPr>
        <p:spPr>
          <a:xfrm>
            <a:off x="365760" y="1691640"/>
            <a:ext cx="11457432" cy="5486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[2] Oktay, O., et al. (2018). Attention U-Net: Learning Where to Look for the Pancreas. MIDL 2018. arXiv:1804.03999.</a:t>
            </a:r>
            <a:endParaRPr/>
          </a:p>
        </p:txBody>
      </p:sp>
      <p:sp>
        <p:nvSpPr>
          <p:cNvPr id="478" name="Google Shape;478;p34"/>
          <p:cNvSpPr txBox="1"/>
          <p:nvPr/>
        </p:nvSpPr>
        <p:spPr>
          <a:xfrm>
            <a:off x="365760" y="2286000"/>
            <a:ext cx="11457432" cy="5486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[3] Long, J., Shelhamer, E., &amp; Darrell, T. (2015). Fully Convolutional Networks for Semantic Segmentation. CVPR 2015, pp. 3431–3440.</a:t>
            </a:r>
            <a:endParaRPr/>
          </a:p>
        </p:txBody>
      </p:sp>
      <p:sp>
        <p:nvSpPr>
          <p:cNvPr id="479" name="Google Shape;479;p34"/>
          <p:cNvSpPr txBox="1"/>
          <p:nvPr/>
        </p:nvSpPr>
        <p:spPr>
          <a:xfrm>
            <a:off x="365760" y="2880360"/>
            <a:ext cx="11457432" cy="5486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[4] Dosovitskiy, A., et al. (2020). An Image is Worth 16×16 Words: Transformers for Image Recognition at Scale. ICLR 2021. arXiv:2010.11929.</a:t>
            </a:r>
            <a:endParaRPr/>
          </a:p>
        </p:txBody>
      </p:sp>
      <p:sp>
        <p:nvSpPr>
          <p:cNvPr id="480" name="Google Shape;480;p34"/>
          <p:cNvSpPr txBox="1"/>
          <p:nvPr/>
        </p:nvSpPr>
        <p:spPr>
          <a:xfrm>
            <a:off x="365760" y="3474720"/>
            <a:ext cx="11457432" cy="5486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[5] Betancur, J., et al. (2018). Deep Learning for Prediction of Obstructive Disease from Fast Myocardial Perfusion SPECT. JACC: Cardiovascular Imaging, 11(11), 1654–1663.</a:t>
            </a:r>
            <a:endParaRPr/>
          </a:p>
        </p:txBody>
      </p:sp>
      <p:sp>
        <p:nvSpPr>
          <p:cNvPr id="481" name="Google Shape;481;p34"/>
          <p:cNvSpPr txBox="1"/>
          <p:nvPr/>
        </p:nvSpPr>
        <p:spPr>
          <a:xfrm>
            <a:off x="365760" y="4069080"/>
            <a:ext cx="11457432" cy="5486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dirty="0">
                <a:solidFill>
                  <a:srgbClr val="444444"/>
                </a:solidFill>
                <a:latin typeface="Calibri"/>
                <a:ea typeface="Calibri"/>
                <a:cs typeface="Calibri"/>
                <a:sym typeface="Calibri"/>
              </a:rPr>
              <a:t>[6] Goldberger, A. L., et al. (2000). </a:t>
            </a:r>
            <a:r>
              <a:rPr lang="en-US" sz="1100" b="0" i="0" u="none" strike="noStrike" cap="none" dirty="0" err="1">
                <a:solidFill>
                  <a:srgbClr val="444444"/>
                </a:solidFill>
                <a:latin typeface="Calibri"/>
                <a:ea typeface="Calibri"/>
                <a:cs typeface="Calibri"/>
                <a:sym typeface="Calibri"/>
              </a:rPr>
              <a:t>PhysioBank</a:t>
            </a:r>
            <a:r>
              <a:rPr lang="en-US" sz="1100" b="0" i="0" u="none" strike="noStrike" cap="none" dirty="0">
                <a:solidFill>
                  <a:srgbClr val="444444"/>
                </a:solidFill>
                <a:latin typeface="Calibri"/>
                <a:ea typeface="Calibri"/>
                <a:cs typeface="Calibri"/>
                <a:sym typeface="Calibri"/>
              </a:rPr>
              <a:t>, </a:t>
            </a:r>
            <a:r>
              <a:rPr lang="en-US" sz="1100" b="0" i="0" u="none" strike="noStrike" cap="none" dirty="0" err="1">
                <a:solidFill>
                  <a:srgbClr val="444444"/>
                </a:solidFill>
                <a:latin typeface="Calibri"/>
                <a:ea typeface="Calibri"/>
                <a:cs typeface="Calibri"/>
                <a:sym typeface="Calibri"/>
              </a:rPr>
              <a:t>PhysioToolkit</a:t>
            </a:r>
            <a:r>
              <a:rPr lang="en-US" sz="1100" b="0" i="0" u="none" strike="noStrike" cap="none" dirty="0">
                <a:solidFill>
                  <a:srgbClr val="444444"/>
                </a:solidFill>
                <a:latin typeface="Calibri"/>
                <a:ea typeface="Calibri"/>
                <a:cs typeface="Calibri"/>
                <a:sym typeface="Calibri"/>
              </a:rPr>
              <a:t>, and PhysioNet. Circulation, 101(23), e215–e220. DOI: 10.13026/ce2z-dw74.</a:t>
            </a:r>
            <a:endParaRPr dirty="0"/>
          </a:p>
        </p:txBody>
      </p:sp>
      <p:sp>
        <p:nvSpPr>
          <p:cNvPr id="482" name="Google Shape;482;p34"/>
          <p:cNvSpPr txBox="1"/>
          <p:nvPr/>
        </p:nvSpPr>
        <p:spPr>
          <a:xfrm>
            <a:off x="365760" y="4663440"/>
            <a:ext cx="11457432" cy="5486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[7] Paszke, A., et al. (2019). PyTorch: An Imperative Style, High-Performance Deep Learning Library. NeurIPS 2019.</a:t>
            </a:r>
            <a:endParaRPr/>
          </a:p>
        </p:txBody>
      </p:sp>
      <p:sp>
        <p:nvSpPr>
          <p:cNvPr id="483" name="Google Shape;483;p34"/>
          <p:cNvSpPr txBox="1"/>
          <p:nvPr/>
        </p:nvSpPr>
        <p:spPr>
          <a:xfrm>
            <a:off x="365760" y="5257800"/>
            <a:ext cx="11457432" cy="5486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b="0" i="0" u="none" strike="noStrike" cap="none">
                <a:solidFill>
                  <a:srgbClr val="444444"/>
                </a:solidFill>
                <a:latin typeface="Calibri"/>
                <a:ea typeface="Calibri"/>
                <a:cs typeface="Calibri"/>
                <a:sym typeface="Calibri"/>
              </a:rPr>
              <a:t>[8] van der Walt, S., et al. (2014). scikit-image: Image processing in Python. PeerJ 2:e453. (hausdorff_distance implementation)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TotalTime>
  <Words>1734</Words>
  <Application>Microsoft Office PowerPoint</Application>
  <PresentationFormat>Custom</PresentationFormat>
  <Paragraphs>234</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Jahid Hossain</cp:lastModifiedBy>
  <cp:revision>13</cp:revision>
  <dcterms:modified xsi:type="dcterms:W3CDTF">2026-03-27T14:03:02Z</dcterms:modified>
</cp:coreProperties>
</file>